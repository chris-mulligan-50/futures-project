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336"/>
                </a:solidFill>
                <a:latin typeface="Calibri"/>
              </a:rPr>
              <a:t>Listed-spread volume by week, median of 8 recent rolls (%)</a:t>
            </a:r>
          </a:p>
        </c:rich>
      </c:tx>
      <c:layout/>
      <c:overlay val="0"/>
    </c:title>
    <c:autoTitleDeleted val="0"/>
    <c:plotArea>
      <c:barChart>
        <c:barDir val="bar"/>
        <c:grouping val="clustered"/>
        <c:ser>
          <c:idx val="0"/>
          <c:order val="0"/>
          <c:tx>
            <c:strRef>
              <c:f>Sheet1!$B$1</c:f>
              <c:strCache>
                <c:ptCount val="1"/>
                <c:pt idx="0">
                  <c:v>Share of listed-spread volume (%)</c:v>
                </c:pt>
              </c:strCache>
            </c:strRef>
          </c:tx>
          <c:dPt>
            <c:idx val="0"/>
            <c:spPr>
              <a:solidFill>
                <a:srgbClr val="9AA7C7"/>
              </a:solidFill>
            </c:spPr>
          </c:dPt>
          <c:dPt>
            <c:idx val="1"/>
            <c:spPr>
              <a:solidFill>
                <a:srgbClr val="3B5BA9"/>
              </a:solidFill>
            </c:spPr>
          </c:dPt>
          <c:dPt>
            <c:idx val="2"/>
            <c:spPr>
              <a:solidFill>
                <a:srgbClr val="E3A71B"/>
              </a:solidFill>
            </c:spPr>
          </c:dPt>
          <c:cat>
            <c:strRef>
              <c:f>Sheet1!$A$2:$A$4</c:f>
              <c:strCache>
                <c:ptCount val="3"/>
                <c:pt idx="0">
                  <c:v>Week before the roll week</c:v>
                </c:pt>
                <c:pt idx="1">
                  <c:v>Roll week</c:v>
                </c:pt>
                <c:pt idx="2">
                  <c:v>Control week</c:v>
                </c:pt>
              </c:strCache>
            </c:strRef>
          </c:cat>
          <c:val>
            <c:numRef>
              <c:f>Sheet1!$B$2:$B$4</c:f>
              <c:numCache>
                <c:formatCode>General</c:formatCode>
                <c:ptCount val="3"/>
                <c:pt idx="0">
                  <c:v>12</c:v>
                </c:pt>
                <c:pt idx="1">
                  <c:v>83</c:v>
                </c:pt>
                <c:pt idx="2">
                  <c:v>1</c:v>
                </c:pt>
              </c:numCache>
            </c:numRef>
          </c:val>
        </c:ser>
        <c:dLbls>
          <c:numFmt formatCode="0" sourceLinked="0"/>
          <c:txPr>
            <a:bodyPr/>
            <a:lstStyle/>
            <a:p>
              <a:pPr>
                <a:defRPr sz="1200">
                  <a:solidFill>
                    <a:srgbClr val="1B2336"/>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9AA7C7"/>
            </a:solidFill>
          </a:ln>
        </c:spPr>
        <c:txPr>
          <a:bodyPr/>
          <a:lstStyle/>
          <a:p>
            <a:pPr>
              <a:defRPr sz="1200">
                <a:solidFill>
                  <a:srgbClr val="1B2336"/>
                </a:solidFill>
                <a:latin typeface="Calibri"/>
              </a:defRPr>
            </a:pPr>
          </a:p>
        </c:txPr>
        <c:crossAx val="-2113994440"/>
        <c:crosses val="autoZero"/>
        <c:auto val="1"/>
        <c:lblAlgn val="ctr"/>
        <c:lblOffset val="100"/>
        <c:noMultiLvlLbl val="0"/>
      </c:catAx>
      <c:valAx>
        <c:axId val="-2113994440"/>
        <c:scaling>
          <c:max val="100.0"/>
          <c:min val="0.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1B2336"/>
                </a:solidFill>
                <a:latin typeface="Calibri"/>
              </a:rPr>
              <a:t>Mean absolute net spread change, 57 held-out rolls (ticks)</a:t>
            </a:r>
          </a:p>
        </c:rich>
      </c:tx>
      <c:layout/>
      <c:overlay val="0"/>
    </c:title>
    <c:autoTitleDeleted val="0"/>
    <c:plotArea>
      <c:barChart>
        <c:barDir val="col"/>
        <c:grouping val="clustered"/>
        <c:ser>
          <c:idx val="0"/>
          <c:order val="0"/>
          <c:tx>
            <c:strRef>
              <c:f>Sheet1!$B$1</c:f>
              <c:strCache>
                <c:ptCount val="1"/>
                <c:pt idx="0">
                  <c:v>Mean absolute net spread change (ticks)</c:v>
                </c:pt>
              </c:strCache>
            </c:strRef>
          </c:tx>
          <c:dPt>
            <c:idx val="0"/>
            <c:spPr>
              <a:solidFill>
                <a:srgbClr val="3B5BA9"/>
              </a:solidFill>
            </c:spPr>
          </c:dPt>
          <c:dPt>
            <c:idx val="1"/>
            <c:spPr>
              <a:solidFill>
                <a:srgbClr val="E3A71B"/>
              </a:solidFill>
            </c:spPr>
          </c:dPt>
          <c:cat>
            <c:strRef>
              <c:f>Sheet1!$A$2:$A$3</c:f>
              <c:strCache>
                <c:ptCount val="2"/>
                <c:pt idx="0">
                  <c:v>Roll week</c:v>
                </c:pt>
                <c:pt idx="1">
                  <c:v>Control week</c:v>
                </c:pt>
              </c:strCache>
            </c:strRef>
          </c:cat>
          <c:val>
            <c:numRef>
              <c:f>Sheet1!$B$2:$B$3</c:f>
              <c:numCache>
                <c:formatCode>General</c:formatCode>
                <c:ptCount val="2"/>
                <c:pt idx="0">
                  <c:v>3.22</c:v>
                </c:pt>
                <c:pt idx="1">
                  <c:v>2.7</c:v>
                </c:pt>
              </c:numCache>
            </c:numRef>
          </c:val>
        </c:ser>
        <c:dLbls>
          <c:numFmt formatCode="0.00" sourceLinked="0"/>
          <c:txPr>
            <a:bodyPr/>
            <a:lstStyle/>
            <a:p>
              <a:pPr>
                <a:defRPr sz="1400">
                  <a:solidFill>
                    <a:srgbClr val="1B2336"/>
                  </a:solidFill>
                  <a:latin typeface="Calibri"/>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9AA7C7"/>
            </a:solidFill>
          </a:ln>
        </c:spPr>
        <c:txPr>
          <a:bodyPr/>
          <a:lstStyle/>
          <a:p>
            <a:pPr>
              <a:defRPr sz="1400">
                <a:solidFill>
                  <a:srgbClr val="1B2336"/>
                </a:solidFill>
                <a:latin typeface="Calibri"/>
              </a:defRPr>
            </a:pPr>
          </a:p>
        </c:txPr>
        <c:crossAx val="-2113994440"/>
        <c:crosses val="autoZero"/>
        <c:auto val="1"/>
        <c:lblAlgn val="ctr"/>
        <c:lblOffset val="100"/>
        <c:noMultiLvlLbl val="0"/>
      </c:catAx>
      <c:valAx>
        <c:axId val="-2113994440"/>
        <c:scaling>
          <c:max val="4.0"/>
          <c:min val="0.0"/>
        </c:scaling>
        <c:delete/>
        <c:axPos val="l"/>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question. Euro FX futures (6E) expire every March, June, September and December. Anyone holding a position, like a fund hedging euro exposure, has to roll: close the expiring contract and open the next one. That volume lands in the same few days each quarter, so other traders can anticipate it. We test whether the price of switching, the calendar spread, moves more in roll weeks than in normal weeks.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Euro FX futures (6E) expire every March, June, September and December. Anyone holding a position has to roll, and because the calendar fixes the timing, much of that volume lands in the same few days. H1 asks whether the calendar spread moves more in roll weeks; H2 whether it moves in a consistent direction; H3, the dollar cost, only matters if H1 and H2 hold. The idea started from an informal look at the eight most recent rolls, where the spread seemed to rise in every roll week. Using the final definitions, it rose in four of the eight. That does not matter for the test, but it is why those eight rolls are kept out of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spread is the deferred contract's price minus the front contract's, measured in ticks at 10:00 Chicago time. The roll window is the last full Monday to Friday week before the front contract expires; the control window is the same pattern four weeks earlier for the same pair. For each window we take the net move from the preceding Friday's snapshot to its ending Friday's, so only two snapshots enter each number. The statistic d compares the absolute net move in the roll week with the absolute net move in the control week, one value per roll. We test d with a sign test, a Wilcoxon signed-rank test, and two bootstrap intervals: a percentile bootstrap, and a circular block bootstrap over blocks of four consecutive rolls, which allows for shared interest-rate regimes. The unit is the roll, not the minute.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is a Python package with tests, built through pull requests that every member reviews. The data step downloads named contracts, not continuous series, so no return is computed across a contract switch, and caches them. The roll calendar uses the formula 'two business days before the third Wednesday'; we checked it against Databento's own definitions and 64 of 65 match. The one miss, June 2023, expired a day early for Juneteenth, which the calendar now handles. Across all 65 rolls only seven snapshot days were dropped: five CME holidays and two days in June 2014 with no quotes. The runner shows the estimated cost before any download.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descriptive checks that do not use spread changes in the main sample. First, the listed calendar spread trades almost entirely in the roll week, which supports our window rule. Second, outright volume only crosses over on the Friday, about two days after spread trading peaks on Wednesday, so outright volume alone understates when rolling happens. Third, a liquidity check across all 65 rolls found the control week is usable but noisier: its deferred contract trades about 1 to 2 percent of its roll-week volume and its quotes are roughly twice as wide. Fourth, answering a question from the professor, Fed and ECB decisions fall inside 29 of the 57 roll windows but only one control window, so meetings and rolls are not independent and we run the test again without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test on the 57 held-out rolls. Roll weeks move a little more than control weeks, 3.2 ticks against 2.7 on average, but the average difference of half a tick is well inside the noise: the 95 percent interval runs from minus 1 to plus 2.2 ticks, and both the sign test and the Wilcoxon test are far from significant. The spread rose in 24 of the 50 roll weeks with a nonzero move, so there is no consistent direction either, and the mean of roll minus control is minus 0.45 ticks with an interval from minus 2.3 to plus 1.6. Because H1 and H2 do not hold we do not compute H3, the dollar cost.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the same H1 estimate under a different specification, with its 95 percent percentile bootstrap interval; none of the planned specifications has an interval that excludes zero. Dropping rolls with wide quotes, dropping rolls with a Fed or ECB decision in either window, and both carry adjustments, which use observed USD and EUR rates, all agree with the main test. The control windows two and three weeks out were added after the plan to see whether the thin four-week control was hiding an effect. At two weeks nothing changes. At three weeks the percentile interval still includes zero, but the circular block bootstrap interval, from plus 0.04 to plus 2.46, just excludes it; this comes from a few large roll weeks, and because it is a check we added after seeing results we treat it as inconclusive. The eight recent rolls, shown last, go the other way and also include zero.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about what the result means. We found no evidence of a roll-week effect, but the test is weaker than a flat no. The control week is further from expiry, where the deferred contract is quoted about twice as wide, which makes control moves look bigger and pushes the test toward finding nothing. In simulation a roll-week move 1.5 times the control's is detected only about 29 to 43 percent of the time with 57 rolls, and a move twice as large 68 to 85 percent. Calendar spreads also mostly reflect the interest-rate gap, so we cannot say who pays or that rolling caused a move. Finally, we ran the main test on October 25 before the last team member's sign-off and before tagging the plan; that is recorded in the plan's deviation log. Things we cut for time: a reversal check, other currencies, and CFTC positioning.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A6B"/>
        </a:solidFill>
        <a:effectLst/>
      </p:bgPr>
    </p:bg>
    <p:spTree>
      <p:nvGrpSpPr>
        <p:cNvPr id="1" name=""/>
        <p:cNvGrpSpPr/>
        <p:nvPr/>
      </p:nvGrpSpPr>
      <p:grpSpPr/>
      <p:sp>
        <p:nvSpPr>
          <p:cNvPr id="2" name="Title"/>
          <p:cNvSpPr txBox="1"/>
          <p:nvPr/>
        </p:nvSpPr>
        <p:spPr>
          <a:xfrm>
            <a:off x="548640" y="822960"/>
            <a:ext cx="4937760" cy="1371600"/>
          </a:xfrm>
          <a:prstGeom prst="rect">
            <a:avLst/>
          </a:prstGeom>
          <a:noFill/>
        </p:spPr>
        <p:txBody>
          <a:bodyPr wrap="square" lIns="0" rIns="0" tIns="0" bIns="0" anchor="t">
            <a:spAutoFit/>
          </a:bodyPr>
          <a:lstStyle/>
          <a:p>
            <a:pPr algn="l"/>
            <a:r>
              <a:rPr sz="4000" b="1" i="0">
                <a:solidFill>
                  <a:srgbClr val="FFFFFF"/>
                </a:solidFill>
                <a:latin typeface="Cambria"/>
              </a:rPr>
              <a:t>Euro FX futures roll pressure</a:t>
            </a:r>
          </a:p>
        </p:txBody>
      </p:sp>
      <p:sp>
        <p:nvSpPr>
          <p:cNvPr id="3" name="Subtitle"/>
          <p:cNvSpPr txBox="1"/>
          <p:nvPr/>
        </p:nvSpPr>
        <p:spPr>
          <a:xfrm>
            <a:off x="548640" y="2331720"/>
            <a:ext cx="4754880" cy="914400"/>
          </a:xfrm>
          <a:prstGeom prst="rect">
            <a:avLst/>
          </a:prstGeom>
          <a:noFill/>
        </p:spPr>
        <p:txBody>
          <a:bodyPr wrap="square" lIns="0" rIns="0" tIns="0" bIns="0" anchor="t">
            <a:spAutoFit/>
          </a:bodyPr>
          <a:lstStyle/>
          <a:p>
            <a:pPr algn="l"/>
            <a:r>
              <a:rPr sz="1800" b="0" i="0">
                <a:solidFill>
                  <a:srgbClr val="9AA7C7"/>
                </a:solidFill>
                <a:latin typeface="Calibri"/>
              </a:rPr>
              <a:t>Do calendar spreads move more during quarterly roll weeks than in comparable non-roll weeks?</a:t>
            </a:r>
          </a:p>
        </p:txBody>
      </p:sp>
      <p:sp>
        <p:nvSpPr>
          <p:cNvPr id="4" name="Team"/>
          <p:cNvSpPr txBox="1"/>
          <p:nvPr/>
        </p:nvSpPr>
        <p:spPr>
          <a:xfrm>
            <a:off x="548640" y="3931920"/>
            <a:ext cx="5120640" cy="640080"/>
          </a:xfrm>
          <a:prstGeom prst="rect">
            <a:avLst/>
          </a:prstGeom>
          <a:noFill/>
        </p:spPr>
        <p:txBody>
          <a:bodyPr wrap="square" lIns="0" rIns="0" tIns="0" bIns="0" anchor="t">
            <a:spAutoFit/>
          </a:bodyPr>
          <a:lstStyle/>
          <a:p>
            <a:pPr algn="l"/>
            <a:r>
              <a:rPr sz="1200" b="0" i="0">
                <a:solidFill>
                  <a:srgbClr val="EDF0F8"/>
                </a:solidFill>
                <a:latin typeface="Calibri"/>
              </a:rPr>
              <a:t>FINM 37000  |  Futures and Related Derivatives</a:t>
            </a:r>
          </a:p>
          <a:p>
            <a:pPr algn="l"/>
            <a:r>
              <a:rPr sz="1200" b="0" i="0">
                <a:solidFill>
                  <a:srgbClr val="EDF0F8"/>
                </a:solidFill>
                <a:latin typeface="Calibri"/>
              </a:rPr>
              <a:t>Chris Mulligan, Sidharth Saha, Shreya Enaganti, Gonzalo Romero</a:t>
            </a:r>
          </a:p>
        </p:txBody>
      </p:sp>
      <p:sp>
        <p:nvSpPr>
          <p:cNvPr id="5" name="Front contract"/>
          <p:cNvSpPr/>
          <p:nvPr/>
        </p:nvSpPr>
        <p:spPr>
          <a:xfrm>
            <a:off x="5943600" y="822960"/>
            <a:ext cx="2651760" cy="914400"/>
          </a:xfrm>
          <a:prstGeom prst="roundRect">
            <a:avLst>
              <a:gd name="adj" fmla="val 12000"/>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0" y="822960"/>
            <a:ext cx="2651760" cy="914400"/>
          </a:xfrm>
          <a:prstGeom prst="rect">
            <a:avLst/>
          </a:prstGeom>
          <a:noFill/>
        </p:spPr>
        <p:txBody>
          <a:bodyPr wrap="square" lIns="0" rIns="0" tIns="0" bIns="0" anchor="ctr">
            <a:spAutoFit/>
          </a:bodyPr>
          <a:lstStyle/>
          <a:p>
            <a:pPr algn="ctr"/>
            <a:r>
              <a:rPr sz="1200" b="0" i="0">
                <a:solidFill>
                  <a:srgbClr val="FFFFFF"/>
                </a:solidFill>
                <a:latin typeface="Calibri"/>
              </a:rPr>
              <a:t>Front contract</a:t>
            </a:r>
          </a:p>
          <a:p>
            <a:pPr algn="ctr"/>
            <a:r>
              <a:rPr sz="1800" b="1" i="0">
                <a:solidFill>
                  <a:srgbClr val="FFFFFF"/>
                </a:solidFill>
                <a:latin typeface="Calibri"/>
              </a:rPr>
              <a:t>6EU6, expiring</a:t>
            </a:r>
          </a:p>
        </p:txBody>
      </p:sp>
      <p:sp>
        <p:nvSpPr>
          <p:cNvPr id="7" name="Roll arrow"/>
          <p:cNvSpPr/>
          <p:nvPr/>
        </p:nvSpPr>
        <p:spPr>
          <a:xfrm>
            <a:off x="6995160" y="1874519"/>
            <a:ext cx="548640" cy="685800"/>
          </a:xfrm>
          <a:prstGeom prst="downArrow">
            <a:avLst/>
          </a:prstGeom>
          <a:solidFill>
            <a:srgbClr val="E3A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589520" y="2057400"/>
            <a:ext cx="914400" cy="320040"/>
          </a:xfrm>
          <a:prstGeom prst="rect">
            <a:avLst/>
          </a:prstGeom>
          <a:noFill/>
        </p:spPr>
        <p:txBody>
          <a:bodyPr wrap="square" lIns="0" rIns="0" tIns="0" bIns="0" anchor="t">
            <a:spAutoFit/>
          </a:bodyPr>
          <a:lstStyle/>
          <a:p>
            <a:pPr algn="l"/>
            <a:r>
              <a:rPr sz="1400" b="1" i="0">
                <a:solidFill>
                  <a:srgbClr val="E3A71B"/>
                </a:solidFill>
                <a:latin typeface="Calibri"/>
              </a:rPr>
              <a:t>roll</a:t>
            </a:r>
          </a:p>
        </p:txBody>
      </p:sp>
      <p:sp>
        <p:nvSpPr>
          <p:cNvPr id="9" name="Deferred contract"/>
          <p:cNvSpPr/>
          <p:nvPr/>
        </p:nvSpPr>
        <p:spPr>
          <a:xfrm>
            <a:off x="5943600" y="2697480"/>
            <a:ext cx="2651760" cy="914400"/>
          </a:xfrm>
          <a:prstGeom prst="roundRect">
            <a:avLst>
              <a:gd name="adj" fmla="val 12000"/>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0" y="2697480"/>
            <a:ext cx="2651760" cy="914400"/>
          </a:xfrm>
          <a:prstGeom prst="rect">
            <a:avLst/>
          </a:prstGeom>
          <a:noFill/>
        </p:spPr>
        <p:txBody>
          <a:bodyPr wrap="square" lIns="0" rIns="0" tIns="0" bIns="0" anchor="ctr">
            <a:spAutoFit/>
          </a:bodyPr>
          <a:lstStyle/>
          <a:p>
            <a:pPr algn="ctr"/>
            <a:r>
              <a:rPr sz="1200" b="0" i="0">
                <a:solidFill>
                  <a:srgbClr val="FFFFFF"/>
                </a:solidFill>
                <a:latin typeface="Calibri"/>
              </a:rPr>
              <a:t>Deferred contract</a:t>
            </a:r>
          </a:p>
          <a:p>
            <a:pPr algn="ctr"/>
            <a:r>
              <a:rPr sz="1800" b="1" i="0">
                <a:solidFill>
                  <a:srgbClr val="FFFFFF"/>
                </a:solidFill>
                <a:latin typeface="Calibri"/>
              </a:rPr>
              <a:t>6EZ6, next quarter</a:t>
            </a:r>
          </a:p>
        </p:txBody>
      </p:sp>
      <p:sp>
        <p:nvSpPr>
          <p:cNvPr id="11" name="TextBox 10"/>
          <p:cNvSpPr txBox="1"/>
          <p:nvPr/>
        </p:nvSpPr>
        <p:spPr>
          <a:xfrm>
            <a:off x="5943600" y="3840480"/>
            <a:ext cx="2651760" cy="640080"/>
          </a:xfrm>
          <a:prstGeom prst="rect">
            <a:avLst/>
          </a:prstGeom>
          <a:noFill/>
        </p:spPr>
        <p:txBody>
          <a:bodyPr wrap="square" lIns="0" rIns="0" tIns="0" bIns="0" anchor="t">
            <a:spAutoFit/>
          </a:bodyPr>
          <a:lstStyle/>
          <a:p>
            <a:pPr algn="l"/>
            <a:r>
              <a:rPr sz="1200" b="0" i="0">
                <a:solidFill>
                  <a:srgbClr val="EDF0F8"/>
                </a:solidFill>
                <a:latin typeface="Calibri"/>
              </a:rPr>
              <a:t>Spread = deferred minus front. One tick = USD 6.25 per contract.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Why rolls might cost something</a:t>
            </a:r>
          </a:p>
        </p:txBody>
      </p:sp>
      <p:sp>
        <p:nvSpPr>
          <p:cNvPr id="3" name="Why it matters"/>
          <p:cNvSpPr txBox="1"/>
          <p:nvPr/>
        </p:nvSpPr>
        <p:spPr>
          <a:xfrm>
            <a:off x="548640" y="1280160"/>
            <a:ext cx="3749039" cy="2377440"/>
          </a:xfrm>
          <a:prstGeom prst="rect">
            <a:avLst/>
          </a:prstGeom>
          <a:noFill/>
        </p:spPr>
        <p:txBody>
          <a:bodyPr wrap="square" lIns="0" rIns="0" tIns="0" bIns="0" anchor="t">
            <a:spAutoFit/>
          </a:bodyPr>
          <a:lstStyle/>
          <a:p>
            <a:pPr algn="l" marL="201168" indent="-201168">
              <a:spcAft>
                <a:spcPts val="1000"/>
              </a:spcAft>
              <a:buChar char="•"/>
            </a:pPr>
            <a:r>
              <a:rPr sz="1500" b="0" i="0">
                <a:solidFill>
                  <a:srgbClr val="1B2336"/>
                </a:solidFill>
                <a:latin typeface="Calibri"/>
              </a:rPr>
              <a:t>Funds hedging euro exposure must close the expiring contract and open the next one.</a:t>
            </a:r>
          </a:p>
          <a:p>
            <a:pPr algn="l" marL="201168" indent="-201168">
              <a:spcAft>
                <a:spcPts val="1000"/>
              </a:spcAft>
              <a:buChar char="•"/>
            </a:pPr>
            <a:r>
              <a:rPr sz="1500" b="0" i="0">
                <a:solidFill>
                  <a:srgbClr val="1B2336"/>
                </a:solidFill>
                <a:latin typeface="Calibri"/>
              </a:rPr>
              <a:t>The calendar fixes the timing, so volume lands in the same few days each quarter and other traders can anticipate it.</a:t>
            </a:r>
          </a:p>
          <a:p>
            <a:pPr algn="l" marL="201168" indent="-201168">
              <a:spcAft>
                <a:spcPts val="1000"/>
              </a:spcAft>
              <a:buChar char="•"/>
            </a:pPr>
            <a:r>
              <a:rPr sz="1500" b="0" i="0">
                <a:solidFill>
                  <a:srgbClr val="1B2336"/>
                </a:solidFill>
                <a:latin typeface="Calibri"/>
              </a:rPr>
              <a:t>If that crowding pushes the price of switching against rollers, they pay a cost that appears on no fee schedule.</a:t>
            </a:r>
          </a:p>
        </p:txBody>
      </p:sp>
      <p:sp>
        <p:nvSpPr>
          <p:cNvPr id="4" name="Hypothesis H1"/>
          <p:cNvSpPr/>
          <p:nvPr/>
        </p:nvSpPr>
        <p:spPr>
          <a:xfrm>
            <a:off x="4663440" y="1280160"/>
            <a:ext cx="3931920" cy="77724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Badge H1"/>
          <p:cNvSpPr/>
          <p:nvPr/>
        </p:nvSpPr>
        <p:spPr>
          <a:xfrm>
            <a:off x="4800600" y="1435607"/>
            <a:ext cx="475488" cy="475488"/>
          </a:xfrm>
          <a:prstGeom prst="ellipse">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00600" y="1435607"/>
            <a:ext cx="475488" cy="475488"/>
          </a:xfrm>
          <a:prstGeom prst="rect">
            <a:avLst/>
          </a:prstGeom>
          <a:noFill/>
        </p:spPr>
        <p:txBody>
          <a:bodyPr wrap="square" lIns="0" rIns="0" tIns="0" bIns="0" anchor="ctr">
            <a:spAutoFit/>
          </a:bodyPr>
          <a:lstStyle/>
          <a:p>
            <a:pPr algn="ctr"/>
            <a:r>
              <a:rPr sz="1400" b="1" i="0">
                <a:solidFill>
                  <a:srgbClr val="FFFFFF"/>
                </a:solidFill>
                <a:latin typeface="Calibri"/>
              </a:rPr>
              <a:t>H1</a:t>
            </a:r>
          </a:p>
        </p:txBody>
      </p:sp>
      <p:sp>
        <p:nvSpPr>
          <p:cNvPr id="7" name="TextBox 6"/>
          <p:cNvSpPr txBox="1"/>
          <p:nvPr/>
        </p:nvSpPr>
        <p:spPr>
          <a:xfrm>
            <a:off x="5394960" y="1325880"/>
            <a:ext cx="3108960" cy="685800"/>
          </a:xfrm>
          <a:prstGeom prst="rect">
            <a:avLst/>
          </a:prstGeom>
          <a:noFill/>
        </p:spPr>
        <p:txBody>
          <a:bodyPr wrap="square" lIns="0" rIns="0" tIns="0" bIns="0" anchor="ctr">
            <a:spAutoFit/>
          </a:bodyPr>
          <a:lstStyle/>
          <a:p>
            <a:pPr algn="l"/>
            <a:r>
              <a:rPr sz="1300" b="1" i="0">
                <a:solidFill>
                  <a:srgbClr val="0F2A6B"/>
                </a:solidFill>
                <a:latin typeface="Calibri"/>
              </a:rPr>
              <a:t>Magnitude. </a:t>
            </a:r>
            <a:r>
              <a:rPr sz="1300" b="0" i="0">
                <a:solidFill>
                  <a:srgbClr val="1B2336"/>
                </a:solidFill>
                <a:latin typeface="Calibri"/>
              </a:rPr>
              <a:t>The spread moves more, in absolute terms, in roll weeks than in matched control weeks.</a:t>
            </a:r>
          </a:p>
        </p:txBody>
      </p:sp>
      <p:sp>
        <p:nvSpPr>
          <p:cNvPr id="8" name="Hypothesis H2"/>
          <p:cNvSpPr/>
          <p:nvPr/>
        </p:nvSpPr>
        <p:spPr>
          <a:xfrm>
            <a:off x="4663440" y="2148839"/>
            <a:ext cx="3931920" cy="77724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adge H2"/>
          <p:cNvSpPr/>
          <p:nvPr/>
        </p:nvSpPr>
        <p:spPr>
          <a:xfrm>
            <a:off x="4800600" y="2304287"/>
            <a:ext cx="475488" cy="475488"/>
          </a:xfrm>
          <a:prstGeom prst="ellipse">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00600" y="2304287"/>
            <a:ext cx="475488" cy="475488"/>
          </a:xfrm>
          <a:prstGeom prst="rect">
            <a:avLst/>
          </a:prstGeom>
          <a:noFill/>
        </p:spPr>
        <p:txBody>
          <a:bodyPr wrap="square" lIns="0" rIns="0" tIns="0" bIns="0" anchor="ctr">
            <a:spAutoFit/>
          </a:bodyPr>
          <a:lstStyle/>
          <a:p>
            <a:pPr algn="ctr"/>
            <a:r>
              <a:rPr sz="1400" b="1" i="0">
                <a:solidFill>
                  <a:srgbClr val="FFFFFF"/>
                </a:solidFill>
                <a:latin typeface="Calibri"/>
              </a:rPr>
              <a:t>H2</a:t>
            </a:r>
          </a:p>
        </p:txBody>
      </p:sp>
      <p:sp>
        <p:nvSpPr>
          <p:cNvPr id="11" name="TextBox 10"/>
          <p:cNvSpPr txBox="1"/>
          <p:nvPr/>
        </p:nvSpPr>
        <p:spPr>
          <a:xfrm>
            <a:off x="5394960" y="2194559"/>
            <a:ext cx="3108960" cy="685800"/>
          </a:xfrm>
          <a:prstGeom prst="rect">
            <a:avLst/>
          </a:prstGeom>
          <a:noFill/>
        </p:spPr>
        <p:txBody>
          <a:bodyPr wrap="square" lIns="0" rIns="0" tIns="0" bIns="0" anchor="ctr">
            <a:spAutoFit/>
          </a:bodyPr>
          <a:lstStyle/>
          <a:p>
            <a:pPr algn="l"/>
            <a:r>
              <a:rPr sz="1300" b="1" i="0">
                <a:solidFill>
                  <a:srgbClr val="0F2A6B"/>
                </a:solidFill>
                <a:latin typeface="Calibri"/>
              </a:rPr>
              <a:t>Direction. </a:t>
            </a:r>
            <a:r>
              <a:rPr sz="1300" b="0" i="0">
                <a:solidFill>
                  <a:srgbClr val="1B2336"/>
                </a:solidFill>
                <a:latin typeface="Calibri"/>
              </a:rPr>
              <a:t>The spread systematically rises or falls in roll weeks.</a:t>
            </a:r>
          </a:p>
        </p:txBody>
      </p:sp>
      <p:sp>
        <p:nvSpPr>
          <p:cNvPr id="12" name="Hypothesis H3"/>
          <p:cNvSpPr/>
          <p:nvPr/>
        </p:nvSpPr>
        <p:spPr>
          <a:xfrm>
            <a:off x="4663440" y="3017520"/>
            <a:ext cx="3931920" cy="77724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adge H3"/>
          <p:cNvSpPr/>
          <p:nvPr/>
        </p:nvSpPr>
        <p:spPr>
          <a:xfrm>
            <a:off x="4800600" y="3172968"/>
            <a:ext cx="475488" cy="475488"/>
          </a:xfrm>
          <a:prstGeom prst="ellipse">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800600" y="3172968"/>
            <a:ext cx="475488" cy="475488"/>
          </a:xfrm>
          <a:prstGeom prst="rect">
            <a:avLst/>
          </a:prstGeom>
          <a:noFill/>
        </p:spPr>
        <p:txBody>
          <a:bodyPr wrap="square" lIns="0" rIns="0" tIns="0" bIns="0" anchor="ctr">
            <a:spAutoFit/>
          </a:bodyPr>
          <a:lstStyle/>
          <a:p>
            <a:pPr algn="ctr"/>
            <a:r>
              <a:rPr sz="1400" b="1" i="0">
                <a:solidFill>
                  <a:srgbClr val="FFFFFF"/>
                </a:solidFill>
                <a:latin typeface="Calibri"/>
              </a:rPr>
              <a:t>H3</a:t>
            </a:r>
          </a:p>
        </p:txBody>
      </p:sp>
      <p:sp>
        <p:nvSpPr>
          <p:cNvPr id="15" name="TextBox 14"/>
          <p:cNvSpPr txBox="1"/>
          <p:nvPr/>
        </p:nvSpPr>
        <p:spPr>
          <a:xfrm>
            <a:off x="5394960" y="3063239"/>
            <a:ext cx="3108960" cy="685800"/>
          </a:xfrm>
          <a:prstGeom prst="rect">
            <a:avLst/>
          </a:prstGeom>
          <a:noFill/>
        </p:spPr>
        <p:txBody>
          <a:bodyPr wrap="square" lIns="0" rIns="0" tIns="0" bIns="0" anchor="ctr">
            <a:spAutoFit/>
          </a:bodyPr>
          <a:lstStyle/>
          <a:p>
            <a:pPr algn="l"/>
            <a:r>
              <a:rPr sz="1300" b="1" i="0">
                <a:solidFill>
                  <a:srgbClr val="0F2A6B"/>
                </a:solidFill>
                <a:latin typeface="Calibri"/>
              </a:rPr>
              <a:t>Cost. </a:t>
            </a:r>
            <a:r>
              <a:rPr sz="1300" b="0" i="0">
                <a:solidFill>
                  <a:srgbClr val="1B2336"/>
                </a:solidFill>
                <a:latin typeface="Calibri"/>
              </a:rPr>
              <a:t>Only if H1 and H2 hold: turn the excess move into dollars per contract rolled.</a:t>
            </a:r>
          </a:p>
        </p:txBody>
      </p:sp>
      <p:sp>
        <p:nvSpPr>
          <p:cNvPr id="16" name="Origin note"/>
          <p:cNvSpPr/>
          <p:nvPr/>
        </p:nvSpPr>
        <p:spPr>
          <a:xfrm>
            <a:off x="548640" y="4023360"/>
            <a:ext cx="8046720" cy="731520"/>
          </a:xfrm>
          <a:prstGeom prst="roundRect">
            <a:avLst>
              <a:gd name="adj" fmla="val 8000"/>
            </a:avLst>
          </a:prstGeom>
          <a:solidFill>
            <a:srgbClr val="FFFFFF"/>
          </a:solidFill>
          <a:ln w="9525">
            <a:solidFill>
              <a:srgbClr val="E3A7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023360"/>
            <a:ext cx="7680960" cy="731520"/>
          </a:xfrm>
          <a:prstGeom prst="rect">
            <a:avLst/>
          </a:prstGeom>
          <a:noFill/>
        </p:spPr>
        <p:txBody>
          <a:bodyPr wrap="square" lIns="0" rIns="0" tIns="0" bIns="0" anchor="ctr">
            <a:spAutoFit/>
          </a:bodyPr>
          <a:lstStyle/>
          <a:p>
            <a:pPr algn="l"/>
            <a:r>
              <a:rPr sz="1300" b="1" i="0">
                <a:solidFill>
                  <a:srgbClr val="0F2A6B"/>
                </a:solidFill>
                <a:latin typeface="Calibri"/>
              </a:rPr>
              <a:t>Where the idea came from. </a:t>
            </a:r>
            <a:r>
              <a:rPr sz="1300" b="0" i="0">
                <a:solidFill>
                  <a:srgbClr val="1B2336"/>
                </a:solidFill>
                <a:latin typeface="Calibri"/>
              </a:rPr>
              <a:t>A quick look at the 8 most recent rolls suggested the spread rose in every roll week. Under our final definitions it rose in 4 of 8, so those rolls stay exploratory and cannot also be the test.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How we test it</a:t>
            </a:r>
          </a:p>
        </p:txBody>
      </p:sp>
      <p:sp>
        <p:nvSpPr>
          <p:cNvPr id="3" name="Method bullets"/>
          <p:cNvSpPr txBox="1"/>
          <p:nvPr/>
        </p:nvSpPr>
        <p:spPr>
          <a:xfrm>
            <a:off x="548640" y="1280160"/>
            <a:ext cx="3931920" cy="2331720"/>
          </a:xfrm>
          <a:prstGeom prst="rect">
            <a:avLst/>
          </a:prstGeom>
          <a:noFill/>
        </p:spPr>
        <p:txBody>
          <a:bodyPr wrap="square" lIns="0" rIns="0" tIns="0" bIns="0" anchor="t">
            <a:spAutoFit/>
          </a:bodyPr>
          <a:lstStyle/>
          <a:p>
            <a:pPr algn="l" marL="201168" indent="-201168">
              <a:spcAft>
                <a:spcPts val="800"/>
              </a:spcAft>
              <a:buChar char="•"/>
            </a:pPr>
            <a:r>
              <a:rPr sz="1400" b="1" i="0">
                <a:solidFill>
                  <a:srgbClr val="0F2A6B"/>
                </a:solidFill>
                <a:latin typeface="Calibri"/>
              </a:rPr>
              <a:t>Spread, in ticks.</a:t>
            </a:r>
            <a:r>
              <a:rPr sz="1400" b="0" i="0">
                <a:solidFill>
                  <a:srgbClr val="1B2336"/>
                </a:solidFill>
                <a:latin typeface="Calibri"/>
              </a:rPr>
              <a:t> Deferred midpoint minus front midpoint, from the bid and ask at 10:00 Chicago each weekday.</a:t>
            </a:r>
          </a:p>
          <a:p>
            <a:pPr algn="l" marL="201168" indent="-201168">
              <a:spcAft>
                <a:spcPts val="800"/>
              </a:spcAft>
              <a:buChar char="•"/>
            </a:pPr>
            <a:r>
              <a:rPr sz="1400" b="1" i="0">
                <a:solidFill>
                  <a:srgbClr val="0F2A6B"/>
                </a:solidFill>
                <a:latin typeface="Calibri"/>
              </a:rPr>
              <a:t>Net move per window.</a:t>
            </a:r>
            <a:r>
              <a:rPr sz="1400" b="0" i="0">
                <a:solidFill>
                  <a:srgbClr val="1B2336"/>
                </a:solidFill>
                <a:latin typeface="Calibri"/>
              </a:rPr>
              <a:t> Friday 10:00 snapshot to the next Friday 10:00 snapshot.</a:t>
            </a:r>
          </a:p>
          <a:p>
            <a:pPr algn="l" marL="201168" indent="-201168">
              <a:spcAft>
                <a:spcPts val="800"/>
              </a:spcAft>
              <a:buChar char="•"/>
            </a:pPr>
            <a:r>
              <a:rPr sz="1400" b="1" i="0">
                <a:solidFill>
                  <a:srgbClr val="0F2A6B"/>
                </a:solidFill>
                <a:latin typeface="Calibri"/>
              </a:rPr>
              <a:t>Test statistic.</a:t>
            </a:r>
            <a:r>
              <a:rPr sz="1400" b="0" i="0">
                <a:solidFill>
                  <a:srgbClr val="1B2336"/>
                </a:solidFill>
                <a:latin typeface="Calibri"/>
              </a:rPr>
              <a:t> d = |net roll-week move| minus |net control-week move|, one number per roll.</a:t>
            </a:r>
          </a:p>
          <a:p>
            <a:pPr algn="l" marL="201168" indent="-201168">
              <a:spcAft>
                <a:spcPts val="800"/>
              </a:spcAft>
              <a:buChar char="•"/>
            </a:pPr>
            <a:r>
              <a:rPr sz="1400" b="1" i="0">
                <a:solidFill>
                  <a:srgbClr val="0F2A6B"/>
                </a:solidFill>
                <a:latin typeface="Calibri"/>
              </a:rPr>
              <a:t>Held out.</a:t>
            </a:r>
            <a:r>
              <a:rPr sz="1400" b="0" i="0">
                <a:solidFill>
                  <a:srgbClr val="1B2336"/>
                </a:solidFill>
                <a:latin typeface="Calibri"/>
              </a:rPr>
              <a:t> 57 rolls from 2010 to 2024 for the test. The 8 recent rolls are exploratory only.</a:t>
            </a:r>
          </a:p>
        </p:txBody>
      </p:sp>
      <p:sp>
        <p:nvSpPr>
          <p:cNvPr id="4" name="TextBox 3"/>
          <p:cNvSpPr txBox="1"/>
          <p:nvPr/>
        </p:nvSpPr>
        <p:spPr>
          <a:xfrm>
            <a:off x="4663440" y="1691640"/>
            <a:ext cx="3840480" cy="320040"/>
          </a:xfrm>
          <a:prstGeom prst="rect">
            <a:avLst/>
          </a:prstGeom>
          <a:noFill/>
        </p:spPr>
        <p:txBody>
          <a:bodyPr wrap="square" lIns="0" rIns="0" tIns="0" bIns="0" anchor="t">
            <a:spAutoFit/>
          </a:bodyPr>
          <a:lstStyle/>
          <a:p>
            <a:pPr algn="l"/>
            <a:r>
              <a:rPr sz="1200" b="0" i="0">
                <a:solidFill>
                  <a:srgbClr val="7A869E"/>
                </a:solidFill>
                <a:latin typeface="Calibri"/>
              </a:rPr>
              <a:t>Weeks before expiry</a:t>
            </a:r>
          </a:p>
        </p:txBody>
      </p:sp>
      <p:sp>
        <p:nvSpPr>
          <p:cNvPr id="5" name="Week 1"/>
          <p:cNvSpPr/>
          <p:nvPr/>
        </p:nvSpPr>
        <p:spPr>
          <a:xfrm>
            <a:off x="4663440" y="2240280"/>
            <a:ext cx="676656" cy="777240"/>
          </a:xfrm>
          <a:prstGeom prst="roundRect">
            <a:avLst>
              <a:gd name="adj" fmla="val 10000"/>
            </a:avLst>
          </a:prstGeom>
          <a:solidFill>
            <a:srgbClr val="E3A71B"/>
          </a:solidFill>
          <a:ln w="9525">
            <a:solidFill>
              <a:srgbClr val="E3A7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690872" y="2240280"/>
            <a:ext cx="621792" cy="777240"/>
          </a:xfrm>
          <a:prstGeom prst="rect">
            <a:avLst/>
          </a:prstGeom>
          <a:noFill/>
        </p:spPr>
        <p:txBody>
          <a:bodyPr wrap="square" lIns="0" rIns="0" tIns="0" bIns="0" anchor="ctr">
            <a:spAutoFit/>
          </a:bodyPr>
          <a:lstStyle/>
          <a:p>
            <a:pPr algn="ctr"/>
            <a:r>
              <a:rPr sz="1200" b="1" i="0">
                <a:solidFill>
                  <a:srgbClr val="1B2336"/>
                </a:solidFill>
                <a:latin typeface="Calibri"/>
              </a:rPr>
              <a:t>Control week</a:t>
            </a:r>
          </a:p>
        </p:txBody>
      </p:sp>
      <p:sp>
        <p:nvSpPr>
          <p:cNvPr id="7" name="Week 2"/>
          <p:cNvSpPr/>
          <p:nvPr/>
        </p:nvSpPr>
        <p:spPr>
          <a:xfrm>
            <a:off x="5413248" y="2240280"/>
            <a:ext cx="676656" cy="777240"/>
          </a:xfrm>
          <a:prstGeom prst="roundRect">
            <a:avLst>
              <a:gd name="adj" fmla="val 10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Week 3"/>
          <p:cNvSpPr/>
          <p:nvPr/>
        </p:nvSpPr>
        <p:spPr>
          <a:xfrm>
            <a:off x="6163055" y="2240280"/>
            <a:ext cx="676656" cy="777240"/>
          </a:xfrm>
          <a:prstGeom prst="roundRect">
            <a:avLst>
              <a:gd name="adj" fmla="val 10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Week 4"/>
          <p:cNvSpPr/>
          <p:nvPr/>
        </p:nvSpPr>
        <p:spPr>
          <a:xfrm>
            <a:off x="6912864" y="2240280"/>
            <a:ext cx="676656" cy="777240"/>
          </a:xfrm>
          <a:prstGeom prst="roundRect">
            <a:avLst>
              <a:gd name="adj" fmla="val 10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Week 5"/>
          <p:cNvSpPr/>
          <p:nvPr/>
        </p:nvSpPr>
        <p:spPr>
          <a:xfrm>
            <a:off x="7662671" y="2240280"/>
            <a:ext cx="676656" cy="777240"/>
          </a:xfrm>
          <a:prstGeom prst="roundRect">
            <a:avLst>
              <a:gd name="adj" fmla="val 10000"/>
            </a:avLst>
          </a:prstGeom>
          <a:solidFill>
            <a:srgbClr val="3B5BA9"/>
          </a:solidFill>
          <a:ln w="9525">
            <a:solidFill>
              <a:srgbClr val="3B5BA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90103" y="2240280"/>
            <a:ext cx="621792" cy="777240"/>
          </a:xfrm>
          <a:prstGeom prst="rect">
            <a:avLst/>
          </a:prstGeom>
          <a:noFill/>
        </p:spPr>
        <p:txBody>
          <a:bodyPr wrap="square" lIns="0" rIns="0" tIns="0" bIns="0" anchor="ctr">
            <a:spAutoFit/>
          </a:bodyPr>
          <a:lstStyle/>
          <a:p>
            <a:pPr algn="ctr"/>
            <a:r>
              <a:rPr sz="1200" b="1" i="0">
                <a:solidFill>
                  <a:srgbClr val="FFFFFF"/>
                </a:solidFill>
                <a:latin typeface="Calibri"/>
              </a:rPr>
              <a:t>Roll week</a:t>
            </a:r>
          </a:p>
        </p:txBody>
      </p:sp>
      <p:sp>
        <p:nvSpPr>
          <p:cNvPr id="12" name="Expiry flag"/>
          <p:cNvSpPr/>
          <p:nvPr/>
        </p:nvSpPr>
        <p:spPr>
          <a:xfrm>
            <a:off x="8430767" y="2194560"/>
            <a:ext cx="228600" cy="365760"/>
          </a:xfrm>
          <a:prstGeom prst="triangle">
            <a:avLst/>
          </a:prstGeom>
          <a:solidFill>
            <a:srgbClr val="B548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19" y="3063240"/>
            <a:ext cx="822960" cy="274320"/>
          </a:xfrm>
          <a:prstGeom prst="rect">
            <a:avLst/>
          </a:prstGeom>
          <a:noFill/>
        </p:spPr>
        <p:txBody>
          <a:bodyPr wrap="square" lIns="0" rIns="0" tIns="0" bIns="0" anchor="t">
            <a:spAutoFit/>
          </a:bodyPr>
          <a:lstStyle/>
          <a:p>
            <a:pPr algn="ctr"/>
            <a:r>
              <a:rPr sz="1200" b="1" i="0">
                <a:solidFill>
                  <a:srgbClr val="B5483A"/>
                </a:solidFill>
                <a:latin typeface="Calibri"/>
              </a:rPr>
              <a:t>Expiry</a:t>
            </a:r>
          </a:p>
        </p:txBody>
      </p:sp>
      <p:sp>
        <p:nvSpPr>
          <p:cNvPr id="14" name="TextBox 13"/>
          <p:cNvSpPr txBox="1"/>
          <p:nvPr/>
        </p:nvSpPr>
        <p:spPr>
          <a:xfrm>
            <a:off x="4663440" y="3108960"/>
            <a:ext cx="3383280" cy="274320"/>
          </a:xfrm>
          <a:prstGeom prst="rect">
            <a:avLst/>
          </a:prstGeom>
          <a:noFill/>
        </p:spPr>
        <p:txBody>
          <a:bodyPr wrap="square" lIns="0" rIns="0" tIns="0" bIns="0" anchor="t">
            <a:spAutoFit/>
          </a:bodyPr>
          <a:lstStyle/>
          <a:p>
            <a:pPr algn="l"/>
            <a:r>
              <a:rPr sz="1200" b="0" i="0">
                <a:solidFill>
                  <a:srgbClr val="1B2336"/>
                </a:solidFill>
                <a:latin typeface="Calibri"/>
              </a:rPr>
              <a:t>4 weeks apart, same contract pair</a:t>
            </a:r>
          </a:p>
        </p:txBody>
      </p:sp>
      <p:sp>
        <p:nvSpPr>
          <p:cNvPr id="15" name="Test Sign test"/>
          <p:cNvSpPr/>
          <p:nvPr/>
        </p:nvSpPr>
        <p:spPr>
          <a:xfrm>
            <a:off x="548640" y="3749039"/>
            <a:ext cx="2560320" cy="82296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749039"/>
            <a:ext cx="2286000" cy="822960"/>
          </a:xfrm>
          <a:prstGeom prst="rect">
            <a:avLst/>
          </a:prstGeom>
          <a:noFill/>
        </p:spPr>
        <p:txBody>
          <a:bodyPr wrap="square" lIns="0" rIns="0" tIns="0" bIns="0" anchor="ctr">
            <a:spAutoFit/>
          </a:bodyPr>
          <a:lstStyle/>
          <a:p>
            <a:pPr algn="l"/>
            <a:r>
              <a:rPr sz="1400" b="1" i="0">
                <a:solidFill>
                  <a:srgbClr val="0F2A6B"/>
                </a:solidFill>
                <a:latin typeface="Calibri"/>
              </a:rPr>
              <a:t>Sign test</a:t>
            </a:r>
          </a:p>
          <a:p>
            <a:pPr algn="l"/>
            <a:r>
              <a:rPr sz="1200" b="0" i="0">
                <a:solidFill>
                  <a:srgbClr val="1B2336"/>
                </a:solidFill>
                <a:latin typeface="Calibri"/>
              </a:rPr>
              <a:t>direction of d across rolls</a:t>
            </a:r>
          </a:p>
        </p:txBody>
      </p:sp>
      <p:sp>
        <p:nvSpPr>
          <p:cNvPr id="17" name="Test Wilcoxon"/>
          <p:cNvSpPr/>
          <p:nvPr/>
        </p:nvSpPr>
        <p:spPr>
          <a:xfrm>
            <a:off x="3291840" y="3749039"/>
            <a:ext cx="2560320" cy="82296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29000" y="3749039"/>
            <a:ext cx="2286000" cy="822960"/>
          </a:xfrm>
          <a:prstGeom prst="rect">
            <a:avLst/>
          </a:prstGeom>
          <a:noFill/>
        </p:spPr>
        <p:txBody>
          <a:bodyPr wrap="square" lIns="0" rIns="0" tIns="0" bIns="0" anchor="ctr">
            <a:spAutoFit/>
          </a:bodyPr>
          <a:lstStyle/>
          <a:p>
            <a:pPr algn="l"/>
            <a:r>
              <a:rPr sz="1400" b="1" i="0">
                <a:solidFill>
                  <a:srgbClr val="0F2A6B"/>
                </a:solidFill>
                <a:latin typeface="Calibri"/>
              </a:rPr>
              <a:t>Wilcoxon</a:t>
            </a:r>
          </a:p>
          <a:p>
            <a:pPr algn="l"/>
            <a:r>
              <a:rPr sz="1200" b="0" i="0">
                <a:solidFill>
                  <a:srgbClr val="1B2336"/>
                </a:solidFill>
                <a:latin typeface="Calibri"/>
              </a:rPr>
              <a:t>signed-rank test on d</a:t>
            </a:r>
          </a:p>
        </p:txBody>
      </p:sp>
      <p:sp>
        <p:nvSpPr>
          <p:cNvPr id="19" name="Test Bootstrap"/>
          <p:cNvSpPr/>
          <p:nvPr/>
        </p:nvSpPr>
        <p:spPr>
          <a:xfrm>
            <a:off x="6035040" y="3749039"/>
            <a:ext cx="2560320" cy="822960"/>
          </a:xfrm>
          <a:prstGeom prst="roundRect">
            <a:avLst>
              <a:gd name="adj" fmla="val 8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2200" y="3749039"/>
            <a:ext cx="2286000" cy="822960"/>
          </a:xfrm>
          <a:prstGeom prst="rect">
            <a:avLst/>
          </a:prstGeom>
          <a:noFill/>
        </p:spPr>
        <p:txBody>
          <a:bodyPr wrap="square" lIns="0" rIns="0" tIns="0" bIns="0" anchor="ctr">
            <a:spAutoFit/>
          </a:bodyPr>
          <a:lstStyle/>
          <a:p>
            <a:pPr algn="l"/>
            <a:r>
              <a:rPr sz="1400" b="1" i="0">
                <a:solidFill>
                  <a:srgbClr val="0F2A6B"/>
                </a:solidFill>
                <a:latin typeface="Calibri"/>
              </a:rPr>
              <a:t>Bootstrap</a:t>
            </a:r>
          </a:p>
          <a:p>
            <a:pPr algn="l"/>
            <a:r>
              <a:rPr sz="1200" b="0" i="0">
                <a:solidFill>
                  <a:srgbClr val="1B2336"/>
                </a:solidFill>
                <a:latin typeface="Calibri"/>
              </a:rPr>
              <a:t>95% interval for the mean of 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What we built and checked</a:t>
            </a:r>
          </a:p>
        </p:txBody>
      </p:sp>
      <p:sp>
        <p:nvSpPr>
          <p:cNvPr id="3" name="Step Data"/>
          <p:cNvSpPr/>
          <p:nvPr/>
        </p:nvSpPr>
        <p:spPr>
          <a:xfrm>
            <a:off x="548640" y="1280160"/>
            <a:ext cx="1463040" cy="150876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89888"/>
            <a:ext cx="1280160" cy="365760"/>
          </a:xfrm>
          <a:prstGeom prst="rect">
            <a:avLst/>
          </a:prstGeom>
          <a:noFill/>
        </p:spPr>
        <p:txBody>
          <a:bodyPr wrap="square" lIns="0" rIns="0" tIns="0" bIns="0" anchor="t">
            <a:spAutoFit/>
          </a:bodyPr>
          <a:lstStyle/>
          <a:p>
            <a:pPr algn="l"/>
            <a:r>
              <a:rPr sz="1600" b="1" i="0">
                <a:solidFill>
                  <a:srgbClr val="0F2A6B"/>
                </a:solidFill>
                <a:latin typeface="Cambria"/>
              </a:rPr>
              <a:t>Data</a:t>
            </a:r>
          </a:p>
        </p:txBody>
      </p:sp>
      <p:sp>
        <p:nvSpPr>
          <p:cNvPr id="5" name="TextBox 4"/>
          <p:cNvSpPr txBox="1"/>
          <p:nvPr/>
        </p:nvSpPr>
        <p:spPr>
          <a:xfrm>
            <a:off x="640080" y="1783080"/>
            <a:ext cx="1280160" cy="566928"/>
          </a:xfrm>
          <a:prstGeom prst="rect">
            <a:avLst/>
          </a:prstGeom>
          <a:noFill/>
        </p:spPr>
        <p:txBody>
          <a:bodyPr wrap="square" lIns="0" rIns="0" tIns="0" bIns="0" anchor="t">
            <a:spAutoFit/>
          </a:bodyPr>
          <a:lstStyle/>
          <a:p>
            <a:pPr algn="l"/>
            <a:r>
              <a:rPr sz="1200" b="0" i="0">
                <a:solidFill>
                  <a:srgbClr val="1B2336"/>
                </a:solidFill>
                <a:latin typeface="Calibri"/>
              </a:rPr>
              <a:t>Databento 6E quotes and bars, cached locally</a:t>
            </a:r>
          </a:p>
        </p:txBody>
      </p:sp>
      <p:sp>
        <p:nvSpPr>
          <p:cNvPr id="6" name="Status Data"/>
          <p:cNvSpPr/>
          <p:nvPr/>
        </p:nvSpPr>
        <p:spPr>
          <a:xfrm>
            <a:off x="640080" y="2404872"/>
            <a:ext cx="868680" cy="256032"/>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404872"/>
            <a:ext cx="868680" cy="256032"/>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8" name="TextBox 7"/>
          <p:cNvSpPr txBox="1"/>
          <p:nvPr/>
        </p:nvSpPr>
        <p:spPr>
          <a:xfrm>
            <a:off x="1938528" y="1783080"/>
            <a:ext cx="329184" cy="457200"/>
          </a:xfrm>
          <a:prstGeom prst="rect">
            <a:avLst/>
          </a:prstGeom>
          <a:noFill/>
        </p:spPr>
        <p:txBody>
          <a:bodyPr wrap="square" lIns="0" rIns="0" tIns="0" bIns="0" anchor="t">
            <a:spAutoFit/>
          </a:bodyPr>
          <a:lstStyle/>
          <a:p>
            <a:pPr algn="ctr"/>
            <a:r>
              <a:rPr sz="1600" b="0" i="0">
                <a:solidFill>
                  <a:srgbClr val="7A869E"/>
                </a:solidFill>
                <a:latin typeface="Calibri"/>
              </a:rPr>
              <a:t>→</a:t>
            </a:r>
          </a:p>
        </p:txBody>
      </p:sp>
      <p:sp>
        <p:nvSpPr>
          <p:cNvPr id="9" name="Step Roll calendar"/>
          <p:cNvSpPr/>
          <p:nvPr/>
        </p:nvSpPr>
        <p:spPr>
          <a:xfrm>
            <a:off x="2194560" y="1280160"/>
            <a:ext cx="1463040" cy="150876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86000" y="1389888"/>
            <a:ext cx="1280160" cy="365760"/>
          </a:xfrm>
          <a:prstGeom prst="rect">
            <a:avLst/>
          </a:prstGeom>
          <a:noFill/>
        </p:spPr>
        <p:txBody>
          <a:bodyPr wrap="square" lIns="0" rIns="0" tIns="0" bIns="0" anchor="t">
            <a:spAutoFit/>
          </a:bodyPr>
          <a:lstStyle/>
          <a:p>
            <a:pPr algn="l"/>
            <a:r>
              <a:rPr sz="1600" b="1" i="0">
                <a:solidFill>
                  <a:srgbClr val="0F2A6B"/>
                </a:solidFill>
                <a:latin typeface="Cambria"/>
              </a:rPr>
              <a:t>Roll calendar</a:t>
            </a:r>
          </a:p>
        </p:txBody>
      </p:sp>
      <p:sp>
        <p:nvSpPr>
          <p:cNvPr id="11" name="TextBox 10"/>
          <p:cNvSpPr txBox="1"/>
          <p:nvPr/>
        </p:nvSpPr>
        <p:spPr>
          <a:xfrm>
            <a:off x="2286000" y="1783080"/>
            <a:ext cx="1280160" cy="566928"/>
          </a:xfrm>
          <a:prstGeom prst="rect">
            <a:avLst/>
          </a:prstGeom>
          <a:noFill/>
        </p:spPr>
        <p:txBody>
          <a:bodyPr wrap="square" lIns="0" rIns="0" tIns="0" bIns="0" anchor="t">
            <a:spAutoFit/>
          </a:bodyPr>
          <a:lstStyle/>
          <a:p>
            <a:pPr algn="l"/>
            <a:r>
              <a:rPr sz="1200" b="0" i="0">
                <a:solidFill>
                  <a:srgbClr val="1B2336"/>
                </a:solidFill>
                <a:latin typeface="Calibri"/>
              </a:rPr>
              <a:t>Expiries, with CME holidays</a:t>
            </a:r>
          </a:p>
        </p:txBody>
      </p:sp>
      <p:sp>
        <p:nvSpPr>
          <p:cNvPr id="12" name="Status Roll calendar"/>
          <p:cNvSpPr/>
          <p:nvPr/>
        </p:nvSpPr>
        <p:spPr>
          <a:xfrm>
            <a:off x="2286000" y="2404872"/>
            <a:ext cx="868680" cy="256032"/>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86000" y="2404872"/>
            <a:ext cx="868680" cy="256032"/>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14" name="TextBox 13"/>
          <p:cNvSpPr txBox="1"/>
          <p:nvPr/>
        </p:nvSpPr>
        <p:spPr>
          <a:xfrm>
            <a:off x="3584448" y="1783080"/>
            <a:ext cx="329184" cy="457200"/>
          </a:xfrm>
          <a:prstGeom prst="rect">
            <a:avLst/>
          </a:prstGeom>
          <a:noFill/>
        </p:spPr>
        <p:txBody>
          <a:bodyPr wrap="square" lIns="0" rIns="0" tIns="0" bIns="0" anchor="t">
            <a:spAutoFit/>
          </a:bodyPr>
          <a:lstStyle/>
          <a:p>
            <a:pPr algn="ctr"/>
            <a:r>
              <a:rPr sz="1600" b="0" i="0">
                <a:solidFill>
                  <a:srgbClr val="7A869E"/>
                </a:solidFill>
                <a:latin typeface="Calibri"/>
              </a:rPr>
              <a:t>→</a:t>
            </a:r>
          </a:p>
        </p:txBody>
      </p:sp>
      <p:sp>
        <p:nvSpPr>
          <p:cNvPr id="15" name="Step Windows"/>
          <p:cNvSpPr/>
          <p:nvPr/>
        </p:nvSpPr>
        <p:spPr>
          <a:xfrm>
            <a:off x="3840480" y="1280160"/>
            <a:ext cx="1463040" cy="150876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1920" y="1389888"/>
            <a:ext cx="1280160" cy="365760"/>
          </a:xfrm>
          <a:prstGeom prst="rect">
            <a:avLst/>
          </a:prstGeom>
          <a:noFill/>
        </p:spPr>
        <p:txBody>
          <a:bodyPr wrap="square" lIns="0" rIns="0" tIns="0" bIns="0" anchor="t">
            <a:spAutoFit/>
          </a:bodyPr>
          <a:lstStyle/>
          <a:p>
            <a:pPr algn="l"/>
            <a:r>
              <a:rPr sz="1600" b="1" i="0">
                <a:solidFill>
                  <a:srgbClr val="0F2A6B"/>
                </a:solidFill>
                <a:latin typeface="Cambria"/>
              </a:rPr>
              <a:t>Windows</a:t>
            </a:r>
          </a:p>
        </p:txBody>
      </p:sp>
      <p:sp>
        <p:nvSpPr>
          <p:cNvPr id="17" name="TextBox 16"/>
          <p:cNvSpPr txBox="1"/>
          <p:nvPr/>
        </p:nvSpPr>
        <p:spPr>
          <a:xfrm>
            <a:off x="3931920" y="1783080"/>
            <a:ext cx="1280160" cy="566928"/>
          </a:xfrm>
          <a:prstGeom prst="rect">
            <a:avLst/>
          </a:prstGeom>
          <a:noFill/>
        </p:spPr>
        <p:txBody>
          <a:bodyPr wrap="square" lIns="0" rIns="0" tIns="0" bIns="0" anchor="t">
            <a:spAutoFit/>
          </a:bodyPr>
          <a:lstStyle/>
          <a:p>
            <a:pPr algn="l"/>
            <a:r>
              <a:rPr sz="1200" b="0" i="0">
                <a:solidFill>
                  <a:srgbClr val="1B2336"/>
                </a:solidFill>
                <a:latin typeface="Calibri"/>
              </a:rPr>
              <a:t>Roll and control weeks</a:t>
            </a:r>
          </a:p>
        </p:txBody>
      </p:sp>
      <p:sp>
        <p:nvSpPr>
          <p:cNvPr id="18" name="Status Windows"/>
          <p:cNvSpPr/>
          <p:nvPr/>
        </p:nvSpPr>
        <p:spPr>
          <a:xfrm>
            <a:off x="3931920" y="2404872"/>
            <a:ext cx="868680" cy="256032"/>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31920" y="2404872"/>
            <a:ext cx="868680" cy="256032"/>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20" name="TextBox 19"/>
          <p:cNvSpPr txBox="1"/>
          <p:nvPr/>
        </p:nvSpPr>
        <p:spPr>
          <a:xfrm>
            <a:off x="5230368" y="1783080"/>
            <a:ext cx="329184" cy="457200"/>
          </a:xfrm>
          <a:prstGeom prst="rect">
            <a:avLst/>
          </a:prstGeom>
          <a:noFill/>
        </p:spPr>
        <p:txBody>
          <a:bodyPr wrap="square" lIns="0" rIns="0" tIns="0" bIns="0" anchor="t">
            <a:spAutoFit/>
          </a:bodyPr>
          <a:lstStyle/>
          <a:p>
            <a:pPr algn="ctr"/>
            <a:r>
              <a:rPr sz="1600" b="0" i="0">
                <a:solidFill>
                  <a:srgbClr val="7A869E"/>
                </a:solidFill>
                <a:latin typeface="Calibri"/>
              </a:rPr>
              <a:t>→</a:t>
            </a:r>
          </a:p>
        </p:txBody>
      </p:sp>
      <p:sp>
        <p:nvSpPr>
          <p:cNvPr id="21" name="Step Spread"/>
          <p:cNvSpPr/>
          <p:nvPr/>
        </p:nvSpPr>
        <p:spPr>
          <a:xfrm>
            <a:off x="5486400" y="1280160"/>
            <a:ext cx="1463040" cy="150876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1389888"/>
            <a:ext cx="1280160" cy="365760"/>
          </a:xfrm>
          <a:prstGeom prst="rect">
            <a:avLst/>
          </a:prstGeom>
          <a:noFill/>
        </p:spPr>
        <p:txBody>
          <a:bodyPr wrap="square" lIns="0" rIns="0" tIns="0" bIns="0" anchor="t">
            <a:spAutoFit/>
          </a:bodyPr>
          <a:lstStyle/>
          <a:p>
            <a:pPr algn="l"/>
            <a:r>
              <a:rPr sz="1600" b="1" i="0">
                <a:solidFill>
                  <a:srgbClr val="0F2A6B"/>
                </a:solidFill>
                <a:latin typeface="Cambria"/>
              </a:rPr>
              <a:t>Spread</a:t>
            </a:r>
          </a:p>
        </p:txBody>
      </p:sp>
      <p:sp>
        <p:nvSpPr>
          <p:cNvPr id="23" name="TextBox 22"/>
          <p:cNvSpPr txBox="1"/>
          <p:nvPr/>
        </p:nvSpPr>
        <p:spPr>
          <a:xfrm>
            <a:off x="5577840" y="1783080"/>
            <a:ext cx="1280160" cy="566928"/>
          </a:xfrm>
          <a:prstGeom prst="rect">
            <a:avLst/>
          </a:prstGeom>
          <a:noFill/>
        </p:spPr>
        <p:txBody>
          <a:bodyPr wrap="square" lIns="0" rIns="0" tIns="0" bIns="0" anchor="t">
            <a:spAutoFit/>
          </a:bodyPr>
          <a:lstStyle/>
          <a:p>
            <a:pPr algn="l"/>
            <a:r>
              <a:rPr sz="1200" b="0" i="0">
                <a:solidFill>
                  <a:srgbClr val="1B2336"/>
                </a:solidFill>
                <a:latin typeface="Calibri"/>
              </a:rPr>
              <a:t>10:00 snapshots and quote checks</a:t>
            </a:r>
          </a:p>
        </p:txBody>
      </p:sp>
      <p:sp>
        <p:nvSpPr>
          <p:cNvPr id="24" name="Status Spread"/>
          <p:cNvSpPr/>
          <p:nvPr/>
        </p:nvSpPr>
        <p:spPr>
          <a:xfrm>
            <a:off x="5577840" y="2404872"/>
            <a:ext cx="868680" cy="256032"/>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7840" y="2404872"/>
            <a:ext cx="868680" cy="256032"/>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26" name="TextBox 25"/>
          <p:cNvSpPr txBox="1"/>
          <p:nvPr/>
        </p:nvSpPr>
        <p:spPr>
          <a:xfrm>
            <a:off x="6876288" y="1783080"/>
            <a:ext cx="329184" cy="457200"/>
          </a:xfrm>
          <a:prstGeom prst="rect">
            <a:avLst/>
          </a:prstGeom>
          <a:noFill/>
        </p:spPr>
        <p:txBody>
          <a:bodyPr wrap="square" lIns="0" rIns="0" tIns="0" bIns="0" anchor="t">
            <a:spAutoFit/>
          </a:bodyPr>
          <a:lstStyle/>
          <a:p>
            <a:pPr algn="ctr"/>
            <a:r>
              <a:rPr sz="1600" b="0" i="0">
                <a:solidFill>
                  <a:srgbClr val="7A869E"/>
                </a:solidFill>
                <a:latin typeface="Calibri"/>
              </a:rPr>
              <a:t>→</a:t>
            </a:r>
          </a:p>
        </p:txBody>
      </p:sp>
      <p:sp>
        <p:nvSpPr>
          <p:cNvPr id="27" name="Step Statistics"/>
          <p:cNvSpPr/>
          <p:nvPr/>
        </p:nvSpPr>
        <p:spPr>
          <a:xfrm>
            <a:off x="7132320" y="1280160"/>
            <a:ext cx="1463040" cy="1508760"/>
          </a:xfrm>
          <a:prstGeom prst="roundRect">
            <a:avLst>
              <a:gd name="adj" fmla="val 7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59" y="1389888"/>
            <a:ext cx="1280160" cy="365760"/>
          </a:xfrm>
          <a:prstGeom prst="rect">
            <a:avLst/>
          </a:prstGeom>
          <a:noFill/>
        </p:spPr>
        <p:txBody>
          <a:bodyPr wrap="square" lIns="0" rIns="0" tIns="0" bIns="0" anchor="t">
            <a:spAutoFit/>
          </a:bodyPr>
          <a:lstStyle/>
          <a:p>
            <a:pPr algn="l"/>
            <a:r>
              <a:rPr sz="1600" b="1" i="0">
                <a:solidFill>
                  <a:srgbClr val="0F2A6B"/>
                </a:solidFill>
                <a:latin typeface="Cambria"/>
              </a:rPr>
              <a:t>Statistics</a:t>
            </a:r>
          </a:p>
        </p:txBody>
      </p:sp>
      <p:sp>
        <p:nvSpPr>
          <p:cNvPr id="29" name="TextBox 28"/>
          <p:cNvSpPr txBox="1"/>
          <p:nvPr/>
        </p:nvSpPr>
        <p:spPr>
          <a:xfrm>
            <a:off x="7223759" y="1783080"/>
            <a:ext cx="1280160" cy="566928"/>
          </a:xfrm>
          <a:prstGeom prst="rect">
            <a:avLst/>
          </a:prstGeom>
          <a:noFill/>
        </p:spPr>
        <p:txBody>
          <a:bodyPr wrap="square" lIns="0" rIns="0" tIns="0" bIns="0" anchor="t">
            <a:spAutoFit/>
          </a:bodyPr>
          <a:lstStyle/>
          <a:p>
            <a:pPr algn="l"/>
            <a:r>
              <a:rPr sz="1200" b="0" i="0">
                <a:solidFill>
                  <a:srgbClr val="1B2336"/>
                </a:solidFill>
                <a:latin typeface="Calibri"/>
              </a:rPr>
              <a:t>Tests, bootstrap, runner</a:t>
            </a:r>
          </a:p>
        </p:txBody>
      </p:sp>
      <p:sp>
        <p:nvSpPr>
          <p:cNvPr id="30" name="Status Statistics"/>
          <p:cNvSpPr/>
          <p:nvPr/>
        </p:nvSpPr>
        <p:spPr>
          <a:xfrm>
            <a:off x="7223759" y="2404872"/>
            <a:ext cx="868680" cy="256032"/>
          </a:xfrm>
          <a:prstGeom prst="roundRect">
            <a:avLst>
              <a:gd name="adj" fmla="val 50000"/>
            </a:avLst>
          </a:prstGeom>
          <a:solidFill>
            <a:srgbClr val="2E8B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59" y="2404872"/>
            <a:ext cx="868680" cy="256032"/>
          </a:xfrm>
          <a:prstGeom prst="rect">
            <a:avLst/>
          </a:prstGeom>
          <a:noFill/>
        </p:spPr>
        <p:txBody>
          <a:bodyPr wrap="square" lIns="0" rIns="0" tIns="0" bIns="0" anchor="ctr">
            <a:spAutoFit/>
          </a:bodyPr>
          <a:lstStyle/>
          <a:p>
            <a:pPr algn="ctr"/>
            <a:r>
              <a:rPr sz="1100" b="1" i="0">
                <a:solidFill>
                  <a:srgbClr val="FFFFFF"/>
                </a:solidFill>
                <a:latin typeface="Calibri"/>
              </a:rPr>
              <a:t>merged</a:t>
            </a:r>
          </a:p>
        </p:txBody>
      </p:sp>
      <p:sp>
        <p:nvSpPr>
          <p:cNvPr id="32" name="TextBox 31"/>
          <p:cNvSpPr txBox="1"/>
          <p:nvPr/>
        </p:nvSpPr>
        <p:spPr>
          <a:xfrm>
            <a:off x="548640" y="3017520"/>
            <a:ext cx="2560320" cy="640080"/>
          </a:xfrm>
          <a:prstGeom prst="rect">
            <a:avLst/>
          </a:prstGeom>
          <a:noFill/>
        </p:spPr>
        <p:txBody>
          <a:bodyPr wrap="square" lIns="0" rIns="0" tIns="0" bIns="0" anchor="t">
            <a:spAutoFit/>
          </a:bodyPr>
          <a:lstStyle/>
          <a:p>
            <a:pPr algn="l"/>
            <a:r>
              <a:rPr sz="3600" b="1" i="0">
                <a:solidFill>
                  <a:srgbClr val="3B5BA9"/>
                </a:solidFill>
                <a:latin typeface="Cambria"/>
              </a:rPr>
              <a:t>64 of 65</a:t>
            </a:r>
          </a:p>
        </p:txBody>
      </p:sp>
      <p:sp>
        <p:nvSpPr>
          <p:cNvPr id="33" name="TextBox 32"/>
          <p:cNvSpPr txBox="1"/>
          <p:nvPr/>
        </p:nvSpPr>
        <p:spPr>
          <a:xfrm>
            <a:off x="548640" y="3657600"/>
            <a:ext cx="2468880" cy="822960"/>
          </a:xfrm>
          <a:prstGeom prst="rect">
            <a:avLst/>
          </a:prstGeom>
          <a:noFill/>
        </p:spPr>
        <p:txBody>
          <a:bodyPr wrap="square" lIns="0" rIns="0" tIns="0" bIns="0" anchor="t">
            <a:spAutoFit/>
          </a:bodyPr>
          <a:lstStyle/>
          <a:p>
            <a:pPr algn="l"/>
            <a:r>
              <a:rPr sz="1200" b="0" i="0">
                <a:solidFill>
                  <a:srgbClr val="1B2336"/>
                </a:solidFill>
                <a:latin typeface="Calibri"/>
              </a:rPr>
              <a:t>front-contract expiries match Databento's definitions, 2010 to 2026</a:t>
            </a:r>
          </a:p>
        </p:txBody>
      </p:sp>
      <p:sp>
        <p:nvSpPr>
          <p:cNvPr id="34" name="TextBox 33"/>
          <p:cNvSpPr txBox="1"/>
          <p:nvPr/>
        </p:nvSpPr>
        <p:spPr>
          <a:xfrm>
            <a:off x="3291840" y="3017520"/>
            <a:ext cx="2560320" cy="640080"/>
          </a:xfrm>
          <a:prstGeom prst="rect">
            <a:avLst/>
          </a:prstGeom>
          <a:noFill/>
        </p:spPr>
        <p:txBody>
          <a:bodyPr wrap="square" lIns="0" rIns="0" tIns="0" bIns="0" anchor="t">
            <a:spAutoFit/>
          </a:bodyPr>
          <a:lstStyle/>
          <a:p>
            <a:pPr algn="l"/>
            <a:r>
              <a:rPr sz="3600" b="1" i="0">
                <a:solidFill>
                  <a:srgbClr val="3B5BA9"/>
                </a:solidFill>
                <a:latin typeface="Cambria"/>
              </a:rPr>
              <a:t>7 days</a:t>
            </a:r>
          </a:p>
        </p:txBody>
      </p:sp>
      <p:sp>
        <p:nvSpPr>
          <p:cNvPr id="35" name="TextBox 34"/>
          <p:cNvSpPr txBox="1"/>
          <p:nvPr/>
        </p:nvSpPr>
        <p:spPr>
          <a:xfrm>
            <a:off x="3291840" y="3657600"/>
            <a:ext cx="2468880" cy="822960"/>
          </a:xfrm>
          <a:prstGeom prst="rect">
            <a:avLst/>
          </a:prstGeom>
          <a:noFill/>
        </p:spPr>
        <p:txBody>
          <a:bodyPr wrap="square" lIns="0" rIns="0" tIns="0" bIns="0" anchor="t">
            <a:spAutoFit/>
          </a:bodyPr>
          <a:lstStyle/>
          <a:p>
            <a:pPr algn="l"/>
            <a:r>
              <a:rPr sz="1200" b="0" i="0">
                <a:solidFill>
                  <a:srgbClr val="1B2336"/>
                </a:solidFill>
                <a:latin typeface="Calibri"/>
              </a:rPr>
              <a:t>dropped out of all 65 rolls: 5 CME holidays and 2 days with no quotes</a:t>
            </a:r>
          </a:p>
        </p:txBody>
      </p:sp>
      <p:sp>
        <p:nvSpPr>
          <p:cNvPr id="36" name="TextBox 35"/>
          <p:cNvSpPr txBox="1"/>
          <p:nvPr/>
        </p:nvSpPr>
        <p:spPr>
          <a:xfrm>
            <a:off x="6035040" y="3017520"/>
            <a:ext cx="2560320" cy="640080"/>
          </a:xfrm>
          <a:prstGeom prst="rect">
            <a:avLst/>
          </a:prstGeom>
          <a:noFill/>
        </p:spPr>
        <p:txBody>
          <a:bodyPr wrap="square" lIns="0" rIns="0" tIns="0" bIns="0" anchor="t">
            <a:spAutoFit/>
          </a:bodyPr>
          <a:lstStyle/>
          <a:p>
            <a:pPr algn="l"/>
            <a:r>
              <a:rPr sz="3600" b="1" i="0">
                <a:solidFill>
                  <a:srgbClr val="3B5BA9"/>
                </a:solidFill>
                <a:latin typeface="Cambria"/>
              </a:rPr>
              <a:t>190+</a:t>
            </a:r>
          </a:p>
        </p:txBody>
      </p:sp>
      <p:sp>
        <p:nvSpPr>
          <p:cNvPr id="37" name="TextBox 36"/>
          <p:cNvSpPr txBox="1"/>
          <p:nvPr/>
        </p:nvSpPr>
        <p:spPr>
          <a:xfrm>
            <a:off x="6035040" y="3657600"/>
            <a:ext cx="2468880" cy="822960"/>
          </a:xfrm>
          <a:prstGeom prst="rect">
            <a:avLst/>
          </a:prstGeom>
          <a:noFill/>
        </p:spPr>
        <p:txBody>
          <a:bodyPr wrap="square" lIns="0" rIns="0" tIns="0" bIns="0" anchor="t">
            <a:spAutoFit/>
          </a:bodyPr>
          <a:lstStyle/>
          <a:p>
            <a:pPr algn="l"/>
            <a:r>
              <a:rPr sz="1200" b="0" i="0">
                <a:solidFill>
                  <a:srgbClr val="1B2336"/>
                </a:solidFill>
                <a:latin typeface="Calibri"/>
              </a:rPr>
              <a:t>automated tests, run on Linux and Windows for every pull request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What the data show before any test</a:t>
            </a:r>
          </a:p>
        </p:txBody>
      </p:sp>
      <p:graphicFrame>
        <p:nvGraphicFramePr>
          <p:cNvPr id="3" name="Spread volume by week"/>
          <p:cNvGraphicFramePr>
            <a:graphicFrameLocks noGrp="1"/>
          </p:cNvGraphicFramePr>
          <p:nvPr/>
        </p:nvGraphicFramePr>
        <p:xfrm>
          <a:off x="457200" y="1234440"/>
          <a:ext cx="4480560" cy="3108960"/>
        </p:xfrm>
        <a:graphic>
          <a:graphicData uri="http://schemas.openxmlformats.org/drawingml/2006/chart">
            <c:chart xmlns:c="http://schemas.openxmlformats.org/drawingml/2006/chart" r:id="rId2"/>
          </a:graphicData>
        </a:graphic>
      </p:graphicFrame>
      <p:sp>
        <p:nvSpPr>
          <p:cNvPr id="4" name="Findings"/>
          <p:cNvSpPr txBox="1"/>
          <p:nvPr/>
        </p:nvSpPr>
        <p:spPr>
          <a:xfrm>
            <a:off x="5212080" y="1280160"/>
            <a:ext cx="3474720" cy="3200400"/>
          </a:xfrm>
          <a:prstGeom prst="rect">
            <a:avLst/>
          </a:prstGeom>
          <a:noFill/>
        </p:spPr>
        <p:txBody>
          <a:bodyPr wrap="square" lIns="0" rIns="0" tIns="0" bIns="0" anchor="t">
            <a:spAutoFit/>
          </a:bodyPr>
          <a:lstStyle/>
          <a:p>
            <a:pPr algn="l" marL="201168" indent="-201168">
              <a:spcAft>
                <a:spcPts val="800"/>
              </a:spcAft>
              <a:buChar char="•"/>
            </a:pPr>
            <a:r>
              <a:rPr sz="1300" b="1" i="0">
                <a:solidFill>
                  <a:srgbClr val="0F2A6B"/>
                </a:solidFill>
                <a:latin typeface="Calibri"/>
              </a:rPr>
              <a:t>Rolling is concentrated.</a:t>
            </a:r>
            <a:r>
              <a:rPr sz="1300" b="0" i="0">
                <a:solidFill>
                  <a:srgbClr val="1B2336"/>
                </a:solidFill>
                <a:latin typeface="Calibri"/>
              </a:rPr>
              <a:t> The roll week holds 80 to 87% of listed-spread volume; the control week 0 to 1%.</a:t>
            </a:r>
          </a:p>
          <a:p>
            <a:pPr algn="l" marL="201168" indent="-201168">
              <a:spcAft>
                <a:spcPts val="800"/>
              </a:spcAft>
              <a:buChar char="•"/>
            </a:pPr>
            <a:r>
              <a:rPr sz="1300" b="1" i="0">
                <a:solidFill>
                  <a:srgbClr val="0F2A6B"/>
                </a:solidFill>
                <a:latin typeface="Calibri"/>
              </a:rPr>
              <a:t>Outright volume lags.</a:t>
            </a:r>
            <a:r>
              <a:rPr sz="1300" b="0" i="0">
                <a:solidFill>
                  <a:srgbClr val="1B2336"/>
                </a:solidFill>
                <a:latin typeface="Calibri"/>
              </a:rPr>
              <a:t> The deferred contract passes half of outright volume 3 days before expiry in 63 of 65 rolls.</a:t>
            </a:r>
          </a:p>
          <a:p>
            <a:pPr algn="l" marL="201168" indent="-201168">
              <a:spcAft>
                <a:spcPts val="800"/>
              </a:spcAft>
              <a:buChar char="•"/>
            </a:pPr>
            <a:r>
              <a:rPr sz="1300" b="1" i="0">
                <a:solidFill>
                  <a:srgbClr val="0F2A6B"/>
                </a:solidFill>
                <a:latin typeface="Calibri"/>
              </a:rPr>
              <a:t>The control is thin.</a:t>
            </a:r>
            <a:r>
              <a:rPr sz="1300" b="0" i="0">
                <a:solidFill>
                  <a:srgbClr val="1B2336"/>
                </a:solidFill>
                <a:latin typeface="Calibri"/>
              </a:rPr>
              <a:t> Its deferred contract trades 1 to 2% of roll-week volume and is quoted about twice as wide.</a:t>
            </a:r>
          </a:p>
          <a:p>
            <a:pPr algn="l" marL="201168" indent="-201168">
              <a:spcAft>
                <a:spcPts val="800"/>
              </a:spcAft>
              <a:buChar char="•"/>
            </a:pPr>
            <a:r>
              <a:rPr sz="1300" b="1" i="0">
                <a:solidFill>
                  <a:srgbClr val="0F2A6B"/>
                </a:solidFill>
                <a:latin typeface="Calibri"/>
              </a:rPr>
              <a:t>Meetings line up.</a:t>
            </a:r>
            <a:r>
              <a:rPr sz="1300" b="0" i="0">
                <a:solidFill>
                  <a:srgbClr val="1B2336"/>
                </a:solidFill>
                <a:latin typeface="Calibri"/>
              </a:rPr>
              <a:t> A Fed or ECB decision falls in 29 of 57 roll windows, but only 1 control window.</a:t>
            </a:r>
          </a:p>
        </p:txBody>
      </p:sp>
      <p:sp>
        <p:nvSpPr>
          <p:cNvPr id="5" name="TextBox 4"/>
          <p:cNvSpPr txBox="1"/>
          <p:nvPr/>
        </p:nvSpPr>
        <p:spPr>
          <a:xfrm>
            <a:off x="548640" y="4572000"/>
            <a:ext cx="8046720" cy="274320"/>
          </a:xfrm>
          <a:prstGeom prst="rect">
            <a:avLst/>
          </a:prstGeom>
          <a:noFill/>
        </p:spPr>
        <p:txBody>
          <a:bodyPr wrap="square" lIns="0" rIns="0" tIns="0" bIns="0" anchor="t">
            <a:spAutoFit/>
          </a:bodyPr>
          <a:lstStyle/>
          <a:p>
            <a:pPr algn="l"/>
            <a:r>
              <a:rPr sz="1100" b="0" i="1">
                <a:solidFill>
                  <a:srgbClr val="7A869E"/>
                </a:solidFill>
                <a:latin typeface="Calibri"/>
              </a:rPr>
              <a:t>Volume shares: the 8 recent rolls, volume only. Liquidity and meetings: all 65 rolls, quote quality only. No spread changes were examined.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No evidence of a roll effect</a:t>
            </a:r>
          </a:p>
        </p:txBody>
      </p:sp>
      <p:graphicFrame>
        <p:nvGraphicFramePr>
          <p:cNvPr id="3" name="Mean absolute change"/>
          <p:cNvGraphicFramePr>
            <a:graphicFrameLocks noGrp="1"/>
          </p:cNvGraphicFramePr>
          <p:nvPr/>
        </p:nvGraphicFramePr>
        <p:xfrm>
          <a:off x="457200" y="1234440"/>
          <a:ext cx="4023360" cy="3200400"/>
        </p:xfrm>
        <a:graphic>
          <a:graphicData uri="http://schemas.openxmlformats.org/drawingml/2006/chart">
            <c:chart xmlns:c="http://schemas.openxmlformats.org/drawingml/2006/chart" r:id="rId2"/>
          </a:graphicData>
        </a:graphic>
      </p:graphicFrame>
      <p:sp>
        <p:nvSpPr>
          <p:cNvPr id="4" name="TextBox 3"/>
          <p:cNvSpPr txBox="1"/>
          <p:nvPr/>
        </p:nvSpPr>
        <p:spPr>
          <a:xfrm>
            <a:off x="4846320" y="1280160"/>
            <a:ext cx="3840480" cy="411480"/>
          </a:xfrm>
          <a:prstGeom prst="rect">
            <a:avLst/>
          </a:prstGeom>
          <a:noFill/>
        </p:spPr>
        <p:txBody>
          <a:bodyPr wrap="square" lIns="0" rIns="0" tIns="0" bIns="0" anchor="t">
            <a:spAutoFit/>
          </a:bodyPr>
          <a:lstStyle/>
          <a:p>
            <a:pPr algn="l"/>
            <a:r>
              <a:rPr sz="2200" b="1" i="0">
                <a:solidFill>
                  <a:srgbClr val="3B5BA9"/>
                </a:solidFill>
                <a:latin typeface="Cambria"/>
              </a:rPr>
              <a:t>+0.52 ticks</a:t>
            </a:r>
          </a:p>
        </p:txBody>
      </p:sp>
      <p:sp>
        <p:nvSpPr>
          <p:cNvPr id="5" name="TextBox 4"/>
          <p:cNvSpPr txBox="1"/>
          <p:nvPr/>
        </p:nvSpPr>
        <p:spPr>
          <a:xfrm>
            <a:off x="4846320" y="1691639"/>
            <a:ext cx="3840480" cy="320040"/>
          </a:xfrm>
          <a:prstGeom prst="rect">
            <a:avLst/>
          </a:prstGeom>
          <a:noFill/>
        </p:spPr>
        <p:txBody>
          <a:bodyPr wrap="square" lIns="0" rIns="0" tIns="0" bIns="0" anchor="t">
            <a:spAutoFit/>
          </a:bodyPr>
          <a:lstStyle/>
          <a:p>
            <a:pPr algn="l"/>
            <a:r>
              <a:rPr sz="1200" b="0" i="0">
                <a:solidFill>
                  <a:srgbClr val="1B2336"/>
                </a:solidFill>
                <a:latin typeface="Calibri"/>
              </a:rPr>
              <a:t>H1 (magnitude): mean of |roll| minus |control|</a:t>
            </a:r>
          </a:p>
        </p:txBody>
      </p:sp>
      <p:sp>
        <p:nvSpPr>
          <p:cNvPr id="6" name="TextBox 5"/>
          <p:cNvSpPr txBox="1"/>
          <p:nvPr/>
        </p:nvSpPr>
        <p:spPr>
          <a:xfrm>
            <a:off x="4846320" y="2057400"/>
            <a:ext cx="3840480" cy="411480"/>
          </a:xfrm>
          <a:prstGeom prst="rect">
            <a:avLst/>
          </a:prstGeom>
          <a:noFill/>
        </p:spPr>
        <p:txBody>
          <a:bodyPr wrap="square" lIns="0" rIns="0" tIns="0" bIns="0" anchor="t">
            <a:spAutoFit/>
          </a:bodyPr>
          <a:lstStyle/>
          <a:p>
            <a:pPr algn="l"/>
            <a:r>
              <a:rPr sz="2200" b="1" i="0">
                <a:solidFill>
                  <a:srgbClr val="3B5BA9"/>
                </a:solidFill>
                <a:latin typeface="Cambria"/>
              </a:rPr>
              <a:t>−0.96 to +2.19</a:t>
            </a:r>
          </a:p>
        </p:txBody>
      </p:sp>
      <p:sp>
        <p:nvSpPr>
          <p:cNvPr id="7" name="TextBox 6"/>
          <p:cNvSpPr txBox="1"/>
          <p:nvPr/>
        </p:nvSpPr>
        <p:spPr>
          <a:xfrm>
            <a:off x="4846320" y="2468880"/>
            <a:ext cx="3840480" cy="320040"/>
          </a:xfrm>
          <a:prstGeom prst="rect">
            <a:avLst/>
          </a:prstGeom>
          <a:noFill/>
        </p:spPr>
        <p:txBody>
          <a:bodyPr wrap="square" lIns="0" rIns="0" tIns="0" bIns="0" anchor="t">
            <a:spAutoFit/>
          </a:bodyPr>
          <a:lstStyle/>
          <a:p>
            <a:pPr algn="l"/>
            <a:r>
              <a:rPr sz="1200" b="0" i="0">
                <a:solidFill>
                  <a:srgbClr val="1B2336"/>
                </a:solidFill>
                <a:latin typeface="Calibri"/>
              </a:rPr>
              <a:t>95% bootstrap interval, includes zero</a:t>
            </a:r>
          </a:p>
        </p:txBody>
      </p:sp>
      <p:sp>
        <p:nvSpPr>
          <p:cNvPr id="8" name="TextBox 7"/>
          <p:cNvSpPr txBox="1"/>
          <p:nvPr/>
        </p:nvSpPr>
        <p:spPr>
          <a:xfrm>
            <a:off x="4846320" y="2834639"/>
            <a:ext cx="3840480" cy="411480"/>
          </a:xfrm>
          <a:prstGeom prst="rect">
            <a:avLst/>
          </a:prstGeom>
          <a:noFill/>
        </p:spPr>
        <p:txBody>
          <a:bodyPr wrap="square" lIns="0" rIns="0" tIns="0" bIns="0" anchor="t">
            <a:spAutoFit/>
          </a:bodyPr>
          <a:lstStyle/>
          <a:p>
            <a:pPr algn="l"/>
            <a:r>
              <a:rPr sz="2200" b="1" i="0">
                <a:solidFill>
                  <a:srgbClr val="3B5BA9"/>
                </a:solidFill>
                <a:latin typeface="Cambria"/>
              </a:rPr>
              <a:t>p = 0.89 and 0.37</a:t>
            </a:r>
          </a:p>
        </p:txBody>
      </p:sp>
      <p:sp>
        <p:nvSpPr>
          <p:cNvPr id="9" name="TextBox 8"/>
          <p:cNvSpPr txBox="1"/>
          <p:nvPr/>
        </p:nvSpPr>
        <p:spPr>
          <a:xfrm>
            <a:off x="4846320" y="3246120"/>
            <a:ext cx="3840480" cy="320040"/>
          </a:xfrm>
          <a:prstGeom prst="rect">
            <a:avLst/>
          </a:prstGeom>
          <a:noFill/>
        </p:spPr>
        <p:txBody>
          <a:bodyPr wrap="square" lIns="0" rIns="0" tIns="0" bIns="0" anchor="t">
            <a:spAutoFit/>
          </a:bodyPr>
          <a:lstStyle/>
          <a:p>
            <a:pPr algn="l"/>
            <a:r>
              <a:rPr sz="1200" b="0" i="0">
                <a:solidFill>
                  <a:srgbClr val="1B2336"/>
                </a:solidFill>
                <a:latin typeface="Calibri"/>
              </a:rPr>
              <a:t>sign test and Wilcoxon test</a:t>
            </a:r>
          </a:p>
        </p:txBody>
      </p:sp>
      <p:sp>
        <p:nvSpPr>
          <p:cNvPr id="10" name="TextBox 9"/>
          <p:cNvSpPr txBox="1"/>
          <p:nvPr/>
        </p:nvSpPr>
        <p:spPr>
          <a:xfrm>
            <a:off x="4846320" y="3611879"/>
            <a:ext cx="3840480" cy="411480"/>
          </a:xfrm>
          <a:prstGeom prst="rect">
            <a:avLst/>
          </a:prstGeom>
          <a:noFill/>
        </p:spPr>
        <p:txBody>
          <a:bodyPr wrap="square" lIns="0" rIns="0" tIns="0" bIns="0" anchor="t">
            <a:spAutoFit/>
          </a:bodyPr>
          <a:lstStyle/>
          <a:p>
            <a:pPr algn="l"/>
            <a:r>
              <a:rPr sz="2200" b="1" i="0">
                <a:solidFill>
                  <a:srgbClr val="3B5BA9"/>
                </a:solidFill>
                <a:latin typeface="Cambria"/>
              </a:rPr>
              <a:t>24 of 50</a:t>
            </a:r>
          </a:p>
        </p:txBody>
      </p:sp>
      <p:sp>
        <p:nvSpPr>
          <p:cNvPr id="11" name="TextBox 10"/>
          <p:cNvSpPr txBox="1"/>
          <p:nvPr/>
        </p:nvSpPr>
        <p:spPr>
          <a:xfrm>
            <a:off x="4846320" y="4023359"/>
            <a:ext cx="3840480" cy="320040"/>
          </a:xfrm>
          <a:prstGeom prst="rect">
            <a:avLst/>
          </a:prstGeom>
          <a:noFill/>
        </p:spPr>
        <p:txBody>
          <a:bodyPr wrap="square" lIns="0" rIns="0" tIns="0" bIns="0" anchor="t">
            <a:spAutoFit/>
          </a:bodyPr>
          <a:lstStyle/>
          <a:p>
            <a:pPr algn="l"/>
            <a:r>
              <a:rPr sz="1200" b="0" i="0">
                <a:solidFill>
                  <a:srgbClr val="1B2336"/>
                </a:solidFill>
                <a:latin typeface="Calibri"/>
              </a:rPr>
              <a:t>roll weeks with a rise (H2, direction), p = 0.89</a:t>
            </a:r>
          </a:p>
        </p:txBody>
      </p:sp>
      <p:sp>
        <p:nvSpPr>
          <p:cNvPr id="12" name="TextBox 11"/>
          <p:cNvSpPr txBox="1"/>
          <p:nvPr/>
        </p:nvSpPr>
        <p:spPr>
          <a:xfrm>
            <a:off x="548640" y="4526280"/>
            <a:ext cx="8046720" cy="411480"/>
          </a:xfrm>
          <a:prstGeom prst="rect">
            <a:avLst/>
          </a:prstGeom>
          <a:noFill/>
        </p:spPr>
        <p:txBody>
          <a:bodyPr wrap="square" lIns="0" rIns="0" tIns="0" bIns="0" anchor="t">
            <a:spAutoFit/>
          </a:bodyPr>
          <a:lstStyle/>
          <a:p>
            <a:pPr algn="l"/>
            <a:r>
              <a:rPr sz="1100" b="0" i="1">
                <a:solidFill>
                  <a:srgbClr val="7A869E"/>
                </a:solidFill>
                <a:latin typeface="Calibri"/>
              </a:rPr>
              <a:t>57 held-out rolls, September 2010 to September 2024. H3 (the dollar cost) is not computed because H1 (magnitude) and H2 (direction) do not hold.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Robust under every planned check</a:t>
            </a:r>
          </a:p>
        </p:txBody>
      </p:sp>
      <p:sp>
        <p:nvSpPr>
          <p:cNvPr id="3" name="TextBox 2"/>
          <p:cNvSpPr txBox="1"/>
          <p:nvPr/>
        </p:nvSpPr>
        <p:spPr>
          <a:xfrm>
            <a:off x="425196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−3</a:t>
            </a:r>
          </a:p>
        </p:txBody>
      </p:sp>
      <p:sp>
        <p:nvSpPr>
          <p:cNvPr id="4" name="TextBox 3"/>
          <p:cNvSpPr txBox="1"/>
          <p:nvPr/>
        </p:nvSpPr>
        <p:spPr>
          <a:xfrm>
            <a:off x="492252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−2</a:t>
            </a:r>
          </a:p>
        </p:txBody>
      </p:sp>
      <p:sp>
        <p:nvSpPr>
          <p:cNvPr id="5" name="TextBox 4"/>
          <p:cNvSpPr txBox="1"/>
          <p:nvPr/>
        </p:nvSpPr>
        <p:spPr>
          <a:xfrm>
            <a:off x="559308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−1</a:t>
            </a:r>
          </a:p>
        </p:txBody>
      </p:sp>
      <p:sp>
        <p:nvSpPr>
          <p:cNvPr id="6" name="TextBox 5"/>
          <p:cNvSpPr txBox="1"/>
          <p:nvPr/>
        </p:nvSpPr>
        <p:spPr>
          <a:xfrm>
            <a:off x="626364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0</a:t>
            </a:r>
          </a:p>
        </p:txBody>
      </p:sp>
      <p:sp>
        <p:nvSpPr>
          <p:cNvPr id="7" name="TextBox 6"/>
          <p:cNvSpPr txBox="1"/>
          <p:nvPr/>
        </p:nvSpPr>
        <p:spPr>
          <a:xfrm>
            <a:off x="693420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+1</a:t>
            </a:r>
          </a:p>
        </p:txBody>
      </p:sp>
      <p:sp>
        <p:nvSpPr>
          <p:cNvPr id="8" name="TextBox 7"/>
          <p:cNvSpPr txBox="1"/>
          <p:nvPr/>
        </p:nvSpPr>
        <p:spPr>
          <a:xfrm>
            <a:off x="760476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+2</a:t>
            </a:r>
          </a:p>
        </p:txBody>
      </p:sp>
      <p:sp>
        <p:nvSpPr>
          <p:cNvPr id="9" name="TextBox 8"/>
          <p:cNvSpPr txBox="1"/>
          <p:nvPr/>
        </p:nvSpPr>
        <p:spPr>
          <a:xfrm>
            <a:off x="8275320" y="3895344"/>
            <a:ext cx="457200" cy="228600"/>
          </a:xfrm>
          <a:prstGeom prst="rect">
            <a:avLst/>
          </a:prstGeom>
          <a:noFill/>
        </p:spPr>
        <p:txBody>
          <a:bodyPr wrap="square" lIns="0" rIns="0" tIns="0" bIns="0" anchor="t">
            <a:spAutoFit/>
          </a:bodyPr>
          <a:lstStyle/>
          <a:p>
            <a:pPr algn="ctr"/>
            <a:r>
              <a:rPr sz="1100" b="0" i="0">
                <a:solidFill>
                  <a:srgbClr val="7A869E"/>
                </a:solidFill>
                <a:latin typeface="Calibri"/>
              </a:rPr>
              <a:t>+3</a:t>
            </a:r>
          </a:p>
        </p:txBody>
      </p:sp>
      <p:sp>
        <p:nvSpPr>
          <p:cNvPr id="10" name="Zero line"/>
          <p:cNvSpPr/>
          <p:nvPr/>
        </p:nvSpPr>
        <p:spPr>
          <a:xfrm>
            <a:off x="6483096" y="1280160"/>
            <a:ext cx="18288" cy="2569464"/>
          </a:xfrm>
          <a:prstGeom prst="rect">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325880"/>
            <a:ext cx="3840480" cy="210312"/>
          </a:xfrm>
          <a:prstGeom prst="rect">
            <a:avLst/>
          </a:prstGeom>
          <a:noFill/>
        </p:spPr>
        <p:txBody>
          <a:bodyPr wrap="square" lIns="0" rIns="0" tIns="0" bIns="0" anchor="t">
            <a:spAutoFit/>
          </a:bodyPr>
          <a:lstStyle/>
          <a:p>
            <a:pPr algn="l"/>
            <a:r>
              <a:rPr sz="1300" b="1" i="0">
                <a:solidFill>
                  <a:srgbClr val="1B2336"/>
                </a:solidFill>
                <a:latin typeface="Calibri"/>
              </a:rPr>
              <a:t>Main test, 57 rolls</a:t>
            </a:r>
          </a:p>
        </p:txBody>
      </p:sp>
      <p:sp>
        <p:nvSpPr>
          <p:cNvPr id="12" name="TextBox 11"/>
          <p:cNvSpPr txBox="1"/>
          <p:nvPr/>
        </p:nvSpPr>
        <p:spPr>
          <a:xfrm>
            <a:off x="548640" y="1545336"/>
            <a:ext cx="3840480" cy="182880"/>
          </a:xfrm>
          <a:prstGeom prst="rect">
            <a:avLst/>
          </a:prstGeom>
          <a:noFill/>
        </p:spPr>
        <p:txBody>
          <a:bodyPr wrap="square" lIns="0" rIns="0" tIns="0" bIns="0" anchor="t">
            <a:spAutoFit/>
          </a:bodyPr>
          <a:lstStyle/>
          <a:p>
            <a:pPr algn="l"/>
            <a:r>
              <a:rPr sz="1100" b="0" i="0">
                <a:solidFill>
                  <a:srgbClr val="7A869E"/>
                </a:solidFill>
                <a:latin typeface="Calibri"/>
              </a:rPr>
              <a:t>+0.52  (−0.96 to +2.19)</a:t>
            </a:r>
          </a:p>
        </p:txBody>
      </p:sp>
      <p:sp>
        <p:nvSpPr>
          <p:cNvPr id="13" name="Interval 1"/>
          <p:cNvSpPr/>
          <p:nvPr/>
        </p:nvSpPr>
        <p:spPr>
          <a:xfrm>
            <a:off x="5848502" y="1508760"/>
            <a:ext cx="2112263" cy="36576"/>
          </a:xfrm>
          <a:prstGeom prst="rect">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Estimate 1"/>
          <p:cNvSpPr/>
          <p:nvPr/>
        </p:nvSpPr>
        <p:spPr>
          <a:xfrm>
            <a:off x="6776923" y="1444752"/>
            <a:ext cx="128016" cy="164592"/>
          </a:xfrm>
          <a:prstGeom prst="ellipse">
            <a:avLst/>
          </a:prstGeom>
          <a:solidFill>
            <a:srgbClr val="3B5B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1746504"/>
            <a:ext cx="3840480" cy="210312"/>
          </a:xfrm>
          <a:prstGeom prst="rect">
            <a:avLst/>
          </a:prstGeom>
          <a:noFill/>
        </p:spPr>
        <p:txBody>
          <a:bodyPr wrap="square" lIns="0" rIns="0" tIns="0" bIns="0" anchor="t">
            <a:spAutoFit/>
          </a:bodyPr>
          <a:lstStyle/>
          <a:p>
            <a:pPr algn="l"/>
            <a:r>
              <a:rPr sz="1300" b="0" i="0">
                <a:solidFill>
                  <a:srgbClr val="1B2336"/>
                </a:solidFill>
                <a:latin typeface="Calibri"/>
              </a:rPr>
              <a:t>Narrow quotes only, 34 rolls</a:t>
            </a:r>
          </a:p>
        </p:txBody>
      </p:sp>
      <p:sp>
        <p:nvSpPr>
          <p:cNvPr id="16" name="TextBox 15"/>
          <p:cNvSpPr txBox="1"/>
          <p:nvPr/>
        </p:nvSpPr>
        <p:spPr>
          <a:xfrm>
            <a:off x="548640" y="1965960"/>
            <a:ext cx="3840480" cy="182880"/>
          </a:xfrm>
          <a:prstGeom prst="rect">
            <a:avLst/>
          </a:prstGeom>
          <a:noFill/>
        </p:spPr>
        <p:txBody>
          <a:bodyPr wrap="square" lIns="0" rIns="0" tIns="0" bIns="0" anchor="t">
            <a:spAutoFit/>
          </a:bodyPr>
          <a:lstStyle/>
          <a:p>
            <a:pPr algn="l"/>
            <a:r>
              <a:rPr sz="1100" b="0" i="0">
                <a:solidFill>
                  <a:srgbClr val="7A869E"/>
                </a:solidFill>
                <a:latin typeface="Calibri"/>
              </a:rPr>
              <a:t>+0.40  (−0.96 to +2.10)</a:t>
            </a:r>
          </a:p>
        </p:txBody>
      </p:sp>
      <p:sp>
        <p:nvSpPr>
          <p:cNvPr id="17" name="Interval 2"/>
          <p:cNvSpPr/>
          <p:nvPr/>
        </p:nvSpPr>
        <p:spPr>
          <a:xfrm>
            <a:off x="5848502" y="1929384"/>
            <a:ext cx="2051913" cy="36576"/>
          </a:xfrm>
          <a:prstGeom prst="rect">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stimate 2"/>
          <p:cNvSpPr/>
          <p:nvPr/>
        </p:nvSpPr>
        <p:spPr>
          <a:xfrm>
            <a:off x="6696456" y="1865376"/>
            <a:ext cx="128016" cy="164592"/>
          </a:xfrm>
          <a:prstGeom prst="ellipse">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167128"/>
            <a:ext cx="3840480" cy="210312"/>
          </a:xfrm>
          <a:prstGeom prst="rect">
            <a:avLst/>
          </a:prstGeom>
          <a:noFill/>
        </p:spPr>
        <p:txBody>
          <a:bodyPr wrap="square" lIns="0" rIns="0" tIns="0" bIns="0" anchor="t">
            <a:spAutoFit/>
          </a:bodyPr>
          <a:lstStyle/>
          <a:p>
            <a:pPr algn="l"/>
            <a:r>
              <a:rPr sz="1300" b="0" i="0">
                <a:solidFill>
                  <a:srgbClr val="1B2336"/>
                </a:solidFill>
                <a:latin typeface="Calibri"/>
              </a:rPr>
              <a:t>No Fed or ECB weeks, 27 rolls</a:t>
            </a:r>
          </a:p>
        </p:txBody>
      </p:sp>
      <p:sp>
        <p:nvSpPr>
          <p:cNvPr id="20" name="TextBox 19"/>
          <p:cNvSpPr txBox="1"/>
          <p:nvPr/>
        </p:nvSpPr>
        <p:spPr>
          <a:xfrm>
            <a:off x="548640" y="2386584"/>
            <a:ext cx="3840480" cy="182880"/>
          </a:xfrm>
          <a:prstGeom prst="rect">
            <a:avLst/>
          </a:prstGeom>
          <a:noFill/>
        </p:spPr>
        <p:txBody>
          <a:bodyPr wrap="square" lIns="0" rIns="0" tIns="0" bIns="0" anchor="t">
            <a:spAutoFit/>
          </a:bodyPr>
          <a:lstStyle/>
          <a:p>
            <a:pPr algn="l"/>
            <a:r>
              <a:rPr sz="1100" b="0" i="0">
                <a:solidFill>
                  <a:srgbClr val="7A869E"/>
                </a:solidFill>
                <a:latin typeface="Calibri"/>
              </a:rPr>
              <a:t>+0.52  (−1.09 to +2.65)</a:t>
            </a:r>
          </a:p>
        </p:txBody>
      </p:sp>
      <p:sp>
        <p:nvSpPr>
          <p:cNvPr id="21" name="Interval 3"/>
          <p:cNvSpPr/>
          <p:nvPr/>
        </p:nvSpPr>
        <p:spPr>
          <a:xfrm>
            <a:off x="5761329" y="2350008"/>
            <a:ext cx="2507894" cy="36576"/>
          </a:xfrm>
          <a:prstGeom prst="rect">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Estimate 3"/>
          <p:cNvSpPr/>
          <p:nvPr/>
        </p:nvSpPr>
        <p:spPr>
          <a:xfrm>
            <a:off x="6776923" y="2286000"/>
            <a:ext cx="128016" cy="164592"/>
          </a:xfrm>
          <a:prstGeom prst="ellipse">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2587752"/>
            <a:ext cx="3840480" cy="210312"/>
          </a:xfrm>
          <a:prstGeom prst="rect">
            <a:avLst/>
          </a:prstGeom>
          <a:noFill/>
        </p:spPr>
        <p:txBody>
          <a:bodyPr wrap="square" lIns="0" rIns="0" tIns="0" bIns="0" anchor="t">
            <a:spAutoFit/>
          </a:bodyPr>
          <a:lstStyle/>
          <a:p>
            <a:pPr algn="l"/>
            <a:r>
              <a:rPr sz="1300" b="0" i="0">
                <a:solidFill>
                  <a:srgbClr val="1B2336"/>
                </a:solidFill>
                <a:latin typeface="Calibri"/>
              </a:rPr>
              <a:t>Control 2 weeks out*, 57 rolls</a:t>
            </a:r>
          </a:p>
        </p:txBody>
      </p:sp>
      <p:sp>
        <p:nvSpPr>
          <p:cNvPr id="24" name="TextBox 23"/>
          <p:cNvSpPr txBox="1"/>
          <p:nvPr/>
        </p:nvSpPr>
        <p:spPr>
          <a:xfrm>
            <a:off x="548640" y="2807208"/>
            <a:ext cx="3840480" cy="182880"/>
          </a:xfrm>
          <a:prstGeom prst="rect">
            <a:avLst/>
          </a:prstGeom>
          <a:noFill/>
        </p:spPr>
        <p:txBody>
          <a:bodyPr wrap="square" lIns="0" rIns="0" tIns="0" bIns="0" anchor="t">
            <a:spAutoFit/>
          </a:bodyPr>
          <a:lstStyle/>
          <a:p>
            <a:pPr algn="l"/>
            <a:r>
              <a:rPr sz="1100" b="0" i="0">
                <a:solidFill>
                  <a:srgbClr val="7A869E"/>
                </a:solidFill>
                <a:latin typeface="Calibri"/>
              </a:rPr>
              <a:t>+0.12  (−1.31 to +1.68)</a:t>
            </a:r>
          </a:p>
        </p:txBody>
      </p:sp>
      <p:sp>
        <p:nvSpPr>
          <p:cNvPr id="25" name="Interval 4"/>
          <p:cNvSpPr/>
          <p:nvPr/>
        </p:nvSpPr>
        <p:spPr>
          <a:xfrm>
            <a:off x="5613806" y="2770632"/>
            <a:ext cx="2004974" cy="36576"/>
          </a:xfrm>
          <a:prstGeom prst="rect">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Estimate 4"/>
          <p:cNvSpPr/>
          <p:nvPr/>
        </p:nvSpPr>
        <p:spPr>
          <a:xfrm>
            <a:off x="6508699" y="2706624"/>
            <a:ext cx="128016" cy="164592"/>
          </a:xfrm>
          <a:prstGeom prst="ellipse">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3008376"/>
            <a:ext cx="3840480" cy="210312"/>
          </a:xfrm>
          <a:prstGeom prst="rect">
            <a:avLst/>
          </a:prstGeom>
          <a:noFill/>
        </p:spPr>
        <p:txBody>
          <a:bodyPr wrap="square" lIns="0" rIns="0" tIns="0" bIns="0" anchor="t">
            <a:spAutoFit/>
          </a:bodyPr>
          <a:lstStyle/>
          <a:p>
            <a:pPr algn="l"/>
            <a:r>
              <a:rPr sz="1300" b="0" i="0">
                <a:solidFill>
                  <a:srgbClr val="1B2336"/>
                </a:solidFill>
                <a:latin typeface="Calibri"/>
              </a:rPr>
              <a:t>Control 3 weeks out*, 57 rolls</a:t>
            </a:r>
          </a:p>
        </p:txBody>
      </p:sp>
      <p:sp>
        <p:nvSpPr>
          <p:cNvPr id="28" name="TextBox 27"/>
          <p:cNvSpPr txBox="1"/>
          <p:nvPr/>
        </p:nvSpPr>
        <p:spPr>
          <a:xfrm>
            <a:off x="548640" y="3227832"/>
            <a:ext cx="3840480" cy="182880"/>
          </a:xfrm>
          <a:prstGeom prst="rect">
            <a:avLst/>
          </a:prstGeom>
          <a:noFill/>
        </p:spPr>
        <p:txBody>
          <a:bodyPr wrap="square" lIns="0" rIns="0" tIns="0" bIns="0" anchor="t">
            <a:spAutoFit/>
          </a:bodyPr>
          <a:lstStyle/>
          <a:p>
            <a:pPr algn="l"/>
            <a:r>
              <a:rPr sz="1100" b="0" i="0">
                <a:solidFill>
                  <a:srgbClr val="7A869E"/>
                </a:solidFill>
                <a:latin typeface="Calibri"/>
              </a:rPr>
              <a:t>+1.17  (−0.21 to +2.78)</a:t>
            </a:r>
          </a:p>
        </p:txBody>
      </p:sp>
      <p:sp>
        <p:nvSpPr>
          <p:cNvPr id="29" name="Interval 5"/>
          <p:cNvSpPr/>
          <p:nvPr/>
        </p:nvSpPr>
        <p:spPr>
          <a:xfrm>
            <a:off x="6351422" y="3191256"/>
            <a:ext cx="2004974" cy="36576"/>
          </a:xfrm>
          <a:prstGeom prst="rect">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Estimate 5"/>
          <p:cNvSpPr/>
          <p:nvPr/>
        </p:nvSpPr>
        <p:spPr>
          <a:xfrm>
            <a:off x="7212787" y="3127248"/>
            <a:ext cx="128016" cy="164592"/>
          </a:xfrm>
          <a:prstGeom prst="ellipse">
            <a:avLst/>
          </a:prstGeom>
          <a:solidFill>
            <a:srgbClr val="7A86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3429000"/>
            <a:ext cx="3840480" cy="210312"/>
          </a:xfrm>
          <a:prstGeom prst="rect">
            <a:avLst/>
          </a:prstGeom>
          <a:noFill/>
        </p:spPr>
        <p:txBody>
          <a:bodyPr wrap="square" lIns="0" rIns="0" tIns="0" bIns="0" anchor="t">
            <a:spAutoFit/>
          </a:bodyPr>
          <a:lstStyle/>
          <a:p>
            <a:pPr algn="l"/>
            <a:r>
              <a:rPr sz="1300" b="0" i="0">
                <a:solidFill>
                  <a:srgbClr val="1B2336"/>
                </a:solidFill>
                <a:latin typeface="Calibri"/>
              </a:rPr>
              <a:t>8 recent rolls, exploratory</a:t>
            </a:r>
          </a:p>
        </p:txBody>
      </p:sp>
      <p:sp>
        <p:nvSpPr>
          <p:cNvPr id="32" name="TextBox 31"/>
          <p:cNvSpPr txBox="1"/>
          <p:nvPr/>
        </p:nvSpPr>
        <p:spPr>
          <a:xfrm>
            <a:off x="548640" y="3648456"/>
            <a:ext cx="3840480" cy="182880"/>
          </a:xfrm>
          <a:prstGeom prst="rect">
            <a:avLst/>
          </a:prstGeom>
          <a:noFill/>
        </p:spPr>
        <p:txBody>
          <a:bodyPr wrap="square" lIns="0" rIns="0" tIns="0" bIns="0" anchor="t">
            <a:spAutoFit/>
          </a:bodyPr>
          <a:lstStyle/>
          <a:p>
            <a:pPr algn="l"/>
            <a:r>
              <a:rPr sz="1100" b="0" i="0">
                <a:solidFill>
                  <a:srgbClr val="7A869E"/>
                </a:solidFill>
                <a:latin typeface="Calibri"/>
              </a:rPr>
              <a:t>−0.88  (−2.44 to +0.38)</a:t>
            </a:r>
          </a:p>
        </p:txBody>
      </p:sp>
      <p:sp>
        <p:nvSpPr>
          <p:cNvPr id="33" name="Interval 6"/>
          <p:cNvSpPr/>
          <p:nvPr/>
        </p:nvSpPr>
        <p:spPr>
          <a:xfrm>
            <a:off x="4856073" y="3611880"/>
            <a:ext cx="1890979" cy="36576"/>
          </a:xfrm>
          <a:prstGeom prst="rect">
            <a:avLst/>
          </a:prstGeom>
          <a:solidFill>
            <a:srgbClr val="E3A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Estimate 6"/>
          <p:cNvSpPr/>
          <p:nvPr/>
        </p:nvSpPr>
        <p:spPr>
          <a:xfrm>
            <a:off x="5838139" y="3547872"/>
            <a:ext cx="128016" cy="164592"/>
          </a:xfrm>
          <a:prstGeom prst="ellipse">
            <a:avLst/>
          </a:prstGeom>
          <a:solidFill>
            <a:srgbClr val="E3A7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206240" y="4142232"/>
            <a:ext cx="4572000" cy="274320"/>
          </a:xfrm>
          <a:prstGeom prst="rect">
            <a:avLst/>
          </a:prstGeom>
          <a:noFill/>
        </p:spPr>
        <p:txBody>
          <a:bodyPr wrap="square" lIns="0" rIns="0" tIns="0" bIns="0" anchor="t">
            <a:spAutoFit/>
          </a:bodyPr>
          <a:lstStyle/>
          <a:p>
            <a:pPr algn="ctr"/>
            <a:r>
              <a:rPr sz="1200" b="0" i="0">
                <a:solidFill>
                  <a:srgbClr val="1B2336"/>
                </a:solidFill>
                <a:latin typeface="Calibri"/>
              </a:rPr>
              <a:t>H1 (magnitude) estimate in ticks, with 95% interval</a:t>
            </a:r>
          </a:p>
        </p:txBody>
      </p:sp>
      <p:sp>
        <p:nvSpPr>
          <p:cNvPr id="36" name="TextBox 35"/>
          <p:cNvSpPr txBox="1"/>
          <p:nvPr/>
        </p:nvSpPr>
        <p:spPr>
          <a:xfrm>
            <a:off x="548640" y="4572000"/>
            <a:ext cx="8046720" cy="411480"/>
          </a:xfrm>
          <a:prstGeom prst="rect">
            <a:avLst/>
          </a:prstGeom>
          <a:noFill/>
        </p:spPr>
        <p:txBody>
          <a:bodyPr wrap="square" lIns="0" rIns="0" tIns="0" bIns="0" anchor="t">
            <a:spAutoFit/>
          </a:bodyPr>
          <a:lstStyle/>
          <a:p>
            <a:pPr algn="l"/>
            <a:r>
              <a:rPr sz="1100" b="0" i="1">
                <a:solidFill>
                  <a:srgbClr val="7A869E"/>
                </a:solidFill>
                <a:latin typeface="Calibri"/>
              </a:rPr>
              <a:t>Carry-adjusted versions (basis points) also include zero: +1.9 (−0.8 to +4.9) and +2.4 (−0.3 to +5.4). * Added after the plan. At 3 weeks the block interval just excludes zero.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20040"/>
            <a:ext cx="8046720" cy="731520"/>
          </a:xfrm>
          <a:prstGeom prst="rect">
            <a:avLst/>
          </a:prstGeom>
          <a:noFill/>
        </p:spPr>
        <p:txBody>
          <a:bodyPr wrap="square" lIns="0" rIns="0" tIns="0" bIns="0" anchor="ctr">
            <a:spAutoFit/>
          </a:bodyPr>
          <a:lstStyle/>
          <a:p>
            <a:pPr algn="l"/>
            <a:r>
              <a:rPr sz="3200" b="1" i="0">
                <a:solidFill>
                  <a:srgbClr val="0F2A6B"/>
                </a:solidFill>
                <a:latin typeface="Cambria"/>
              </a:rPr>
              <a:t>What we can and can't conclude</a:t>
            </a:r>
          </a:p>
        </p:txBody>
      </p:sp>
      <p:sp>
        <p:nvSpPr>
          <p:cNvPr id="3" name="Can say card"/>
          <p:cNvSpPr/>
          <p:nvPr/>
        </p:nvSpPr>
        <p:spPr>
          <a:xfrm>
            <a:off x="548640" y="1280160"/>
            <a:ext cx="3931920" cy="2834640"/>
          </a:xfrm>
          <a:prstGeom prst="roundRect">
            <a:avLst>
              <a:gd name="adj" fmla="val 4000"/>
            </a:avLst>
          </a:prstGeom>
          <a:solidFill>
            <a:srgbClr val="EDF0F8"/>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89888"/>
            <a:ext cx="3474720" cy="411480"/>
          </a:xfrm>
          <a:prstGeom prst="rect">
            <a:avLst/>
          </a:prstGeom>
          <a:noFill/>
        </p:spPr>
        <p:txBody>
          <a:bodyPr wrap="square" lIns="0" rIns="0" tIns="0" bIns="0" anchor="t">
            <a:spAutoFit/>
          </a:bodyPr>
          <a:lstStyle/>
          <a:p>
            <a:pPr algn="l"/>
            <a:r>
              <a:rPr sz="2000" b="1" i="0">
                <a:solidFill>
                  <a:srgbClr val="0F2A6B"/>
                </a:solidFill>
                <a:latin typeface="Cambria"/>
              </a:rPr>
              <a:t>What we can say</a:t>
            </a:r>
          </a:p>
        </p:txBody>
      </p:sp>
      <p:sp>
        <p:nvSpPr>
          <p:cNvPr id="5" name="TextBox 4"/>
          <p:cNvSpPr txBox="1"/>
          <p:nvPr/>
        </p:nvSpPr>
        <p:spPr>
          <a:xfrm>
            <a:off x="777240" y="1874519"/>
            <a:ext cx="3474720" cy="2194560"/>
          </a:xfrm>
          <a:prstGeom prst="rect">
            <a:avLst/>
          </a:prstGeom>
          <a:noFill/>
        </p:spPr>
        <p:txBody>
          <a:bodyPr wrap="square" lIns="0" rIns="0" tIns="0" bIns="0" anchor="t">
            <a:spAutoFit/>
          </a:bodyPr>
          <a:lstStyle/>
          <a:p>
            <a:pPr algn="l" marL="201168" indent="-201168">
              <a:spcAft>
                <a:spcPts val="600"/>
              </a:spcAft>
              <a:buChar char="•"/>
            </a:pPr>
            <a:r>
              <a:rPr sz="1300" b="0" i="0">
                <a:solidFill>
                  <a:srgbClr val="1B2336"/>
                </a:solidFill>
                <a:latin typeface="Calibri"/>
              </a:rPr>
              <a:t>No detectable roll-week effect in 57 held-out rolls, and the planned checks agree</a:t>
            </a:r>
          </a:p>
          <a:p>
            <a:pPr algn="l" marL="201168" indent="-201168">
              <a:spcAft>
                <a:spcPts val="600"/>
              </a:spcAft>
              <a:buChar char="•"/>
            </a:pPr>
            <a:r>
              <a:rPr sz="1300" b="0" i="0">
                <a:solidFill>
                  <a:srgbClr val="1B2336"/>
                </a:solidFill>
                <a:latin typeface="Calibri"/>
              </a:rPr>
              <a:t>Listed-spread volume does concentrate in the roll week</a:t>
            </a:r>
          </a:p>
          <a:p>
            <a:pPr algn="l" marL="201168" indent="-201168">
              <a:spcAft>
                <a:spcPts val="600"/>
              </a:spcAft>
              <a:buChar char="•"/>
            </a:pPr>
            <a:r>
              <a:rPr sz="1300" b="0" i="0">
                <a:solidFill>
                  <a:srgbClr val="1B2336"/>
                </a:solidFill>
                <a:latin typeface="Calibri"/>
              </a:rPr>
              <a:t>Central-bank decisions cluster in roll weeks, so they matter</a:t>
            </a:r>
          </a:p>
          <a:p>
            <a:pPr algn="l" marL="201168" indent="-201168">
              <a:spcAft>
                <a:spcPts val="600"/>
              </a:spcAft>
              <a:buChar char="•"/>
            </a:pPr>
            <a:r>
              <a:rPr sz="1300" b="0" i="0">
                <a:solidFill>
                  <a:srgbClr val="1B2336"/>
                </a:solidFill>
                <a:latin typeface="Calibri"/>
              </a:rPr>
              <a:t>Every analysis choice is in the plan, and every later change is logged</a:t>
            </a:r>
          </a:p>
        </p:txBody>
      </p:sp>
      <p:sp>
        <p:nvSpPr>
          <p:cNvPr id="6" name="Cannot say card"/>
          <p:cNvSpPr/>
          <p:nvPr/>
        </p:nvSpPr>
        <p:spPr>
          <a:xfrm>
            <a:off x="4663440" y="1280160"/>
            <a:ext cx="3931920" cy="2834640"/>
          </a:xfrm>
          <a:prstGeom prst="roundRect">
            <a:avLst>
              <a:gd name="adj" fmla="val 4000"/>
            </a:avLst>
          </a:prstGeom>
          <a:solidFill>
            <a:srgbClr val="FFFFFF"/>
          </a:solidFill>
          <a:ln w="9525">
            <a:solidFill>
              <a:srgbClr val="9AA7C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892040" y="1389888"/>
            <a:ext cx="3474720" cy="411480"/>
          </a:xfrm>
          <a:prstGeom prst="rect">
            <a:avLst/>
          </a:prstGeom>
          <a:noFill/>
        </p:spPr>
        <p:txBody>
          <a:bodyPr wrap="square" lIns="0" rIns="0" tIns="0" bIns="0" anchor="t">
            <a:spAutoFit/>
          </a:bodyPr>
          <a:lstStyle/>
          <a:p>
            <a:pPr algn="l"/>
            <a:r>
              <a:rPr sz="2000" b="1" i="0">
                <a:solidFill>
                  <a:srgbClr val="0F2A6B"/>
                </a:solidFill>
                <a:latin typeface="Cambria"/>
              </a:rPr>
              <a:t>What we can't say</a:t>
            </a:r>
          </a:p>
        </p:txBody>
      </p:sp>
      <p:sp>
        <p:nvSpPr>
          <p:cNvPr id="8" name="TextBox 7"/>
          <p:cNvSpPr txBox="1"/>
          <p:nvPr/>
        </p:nvSpPr>
        <p:spPr>
          <a:xfrm>
            <a:off x="4892040" y="1874519"/>
            <a:ext cx="3474720" cy="2194560"/>
          </a:xfrm>
          <a:prstGeom prst="rect">
            <a:avLst/>
          </a:prstGeom>
          <a:noFill/>
        </p:spPr>
        <p:txBody>
          <a:bodyPr wrap="square" lIns="0" rIns="0" tIns="0" bIns="0" anchor="t">
            <a:spAutoFit/>
          </a:bodyPr>
          <a:lstStyle/>
          <a:p>
            <a:pPr algn="l" marL="201168" indent="-201168">
              <a:spcAft>
                <a:spcPts val="600"/>
              </a:spcAft>
              <a:buChar char="•"/>
            </a:pPr>
            <a:r>
              <a:rPr sz="1300" b="0" i="0">
                <a:solidFill>
                  <a:srgbClr val="1B2336"/>
                </a:solidFill>
                <a:latin typeface="Calibri"/>
              </a:rPr>
              <a:t>That there is no effect: noisy control quotes bias the test toward none, and a move 1.5 times the control's is caught only 29 to 43% of the time</a:t>
            </a:r>
          </a:p>
          <a:p>
            <a:pPr algn="l" marL="201168" indent="-201168">
              <a:spcAft>
                <a:spcPts val="600"/>
              </a:spcAft>
              <a:buChar char="•"/>
            </a:pPr>
            <a:r>
              <a:rPr sz="1300" b="0" i="0">
                <a:solidFill>
                  <a:srgbClr val="1B2336"/>
                </a:solidFill>
                <a:latin typeface="Calibri"/>
              </a:rPr>
              <a:t>Who pays, or that rolling caused any move</a:t>
            </a:r>
          </a:p>
          <a:p>
            <a:pPr algn="l" marL="201168" indent="-201168">
              <a:spcAft>
                <a:spcPts val="600"/>
              </a:spcAft>
              <a:buChar char="•"/>
            </a:pPr>
            <a:r>
              <a:rPr sz="1300" b="0" i="0">
                <a:solidFill>
                  <a:srgbClr val="1B2336"/>
                </a:solidFill>
                <a:latin typeface="Calibri"/>
              </a:rPr>
              <a:t>That the plan was fully frozen: the test ran before the last sign-off</a:t>
            </a:r>
          </a:p>
        </p:txBody>
      </p:sp>
      <p:sp>
        <p:nvSpPr>
          <p:cNvPr id="9" name="TextBox 8"/>
          <p:cNvSpPr txBox="1"/>
          <p:nvPr/>
        </p:nvSpPr>
        <p:spPr>
          <a:xfrm>
            <a:off x="548640" y="4297680"/>
            <a:ext cx="8046720" cy="548640"/>
          </a:xfrm>
          <a:prstGeom prst="rect">
            <a:avLst/>
          </a:prstGeom>
          <a:noFill/>
        </p:spPr>
        <p:txBody>
          <a:bodyPr wrap="square" lIns="0" rIns="0" tIns="0" bIns="0" anchor="t">
            <a:spAutoFit/>
          </a:bodyPr>
          <a:lstStyle/>
          <a:p>
            <a:pPr algn="l"/>
            <a:r>
              <a:rPr sz="1300" b="1" i="0">
                <a:solidFill>
                  <a:srgbClr val="0F2A6B"/>
                </a:solidFill>
                <a:latin typeface="Calibri"/>
              </a:rPr>
              <a:t>Cut for time: </a:t>
            </a:r>
            <a:r>
              <a:rPr sz="1300" b="0" i="0">
                <a:solidFill>
                  <a:srgbClr val="1B2336"/>
                </a:solidFill>
                <a:latin typeface="Calibri"/>
              </a:rPr>
              <a:t>a reversal check before expiry, other currencies (6J, 6B), and CFTC positioning.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Euro FX futures roll pressure</dc:title>
  <dc:subject/>
  <dc:creator>FINM 37000 Project Group 1</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