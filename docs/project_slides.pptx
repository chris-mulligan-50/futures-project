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solidFill>
                  <a:srgbClr val="1B2336"/>
                </a:solidFill>
                <a:latin typeface="Calibri"/>
              </a:rPr>
              <a:t>Mean absolute net spread change, 57 held-out rolls (ticks)</a:t>
            </a:r>
          </a:p>
        </c:rich>
      </c:tx>
      <c:layout/>
      <c:overlay val="0"/>
    </c:title>
    <c:autoTitleDeleted val="0"/>
    <c:plotArea>
      <c:barChart>
        <c:barDir val="col"/>
        <c:grouping val="clustered"/>
        <c:ser>
          <c:idx val="0"/>
          <c:order val="0"/>
          <c:tx>
            <c:strRef>
              <c:f>Sheet1!$B$1</c:f>
              <c:strCache>
                <c:ptCount val="1"/>
                <c:pt idx="0">
                  <c:v>Mean absolute net spread change (ticks)</c:v>
                </c:pt>
              </c:strCache>
            </c:strRef>
          </c:tx>
          <c:dPt>
            <c:idx val="0"/>
            <c:spPr>
              <a:solidFill>
                <a:srgbClr val="3B5BA9"/>
              </a:solidFill>
            </c:spPr>
          </c:dPt>
          <c:dPt>
            <c:idx val="1"/>
            <c:spPr>
              <a:solidFill>
                <a:srgbClr val="E3A71B"/>
              </a:solidFill>
            </c:spPr>
          </c:dPt>
          <c:cat>
            <c:strRef>
              <c:f>Sheet1!$A$2:$A$3</c:f>
              <c:strCache>
                <c:ptCount val="2"/>
                <c:pt idx="0">
                  <c:v>Roll week</c:v>
                </c:pt>
                <c:pt idx="1">
                  <c:v>Control week</c:v>
                </c:pt>
              </c:strCache>
            </c:strRef>
          </c:cat>
          <c:val>
            <c:numRef>
              <c:f>Sheet1!$B$2:$B$3</c:f>
              <c:numCache>
                <c:formatCode>General</c:formatCode>
                <c:ptCount val="2"/>
                <c:pt idx="0">
                  <c:v>3.22</c:v>
                </c:pt>
                <c:pt idx="1">
                  <c:v>2.7</c:v>
                </c:pt>
              </c:numCache>
            </c:numRef>
          </c:val>
        </c:ser>
        <c:dLbls>
          <c:numFmt formatCode="0.00" sourceLinked="0"/>
          <c:txPr>
            <a:bodyPr/>
            <a:lstStyle/>
            <a:p>
              <a:pPr>
                <a:defRPr sz="1400">
                  <a:solidFill>
                    <a:srgbClr val="1B2336"/>
                  </a:solidFill>
                  <a:latin typeface="Calibr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AA7C7"/>
            </a:solidFill>
          </a:ln>
        </c:spPr>
        <c:txPr>
          <a:bodyPr/>
          <a:lstStyle/>
          <a:p>
            <a:pPr>
              <a:defRPr sz="1400">
                <a:solidFill>
                  <a:srgbClr val="1B2336"/>
                </a:solidFill>
                <a:latin typeface="Calibri"/>
              </a:defRPr>
            </a:pPr>
          </a:p>
        </c:txPr>
        <c:crossAx val="-2113994440"/>
        <c:crosses val="autoZero"/>
        <c:auto val="1"/>
        <c:lblAlgn val="ctr"/>
        <c:lblOffset val="100"/>
        <c:noMultiLvlLbl val="0"/>
      </c:catAx>
      <c:valAx>
        <c:axId val="-2113994440"/>
        <c:scaling>
          <c:max val="4.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question. Euro FX futures (6E) expire every March, June, September and December. Anyone holding a position, like a fund hedging euro exposure, has to roll: close the expiring contract and open the next one. That volume lands in the same few days each quarter, so other traders can anticipate it. We test whether the price of switching, the calendar spread, moves more in roll weeks than in normal weeks.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spread is the deferred contract's price minus the front contract's, measured in ticks at 10:00 Chicago time. The roll window is the last full Monday to Friday week before the front contract expires; the listed calendar spread trades 80 to 87 percent of its volume in that week in the eight recent rolls. The control window is the same pattern four weeks earlier for the same pair. For each roll we compare the absolute net move in the roll week with the absolute net move in the control week. The recent eight rolls are where the idea came from, so they cannot also be the test; the main test uses the 57 earlier rolls.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a Python package with tests, built through pull requests that every member reviews. The data step downloads named contracts from Databento and caches them locally. The roll calendar uses the formula 'two business days before the third Wednesday' and we checked it against Databento's own definitions: 64 of 65 match. The one miss, 6EM3 in June 2023, expired a business day early because of Juneteenth, a CME holiday; the fix is in review along with the statistics and the main-test runner. Statuses are as of October 26.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test on the 57 held-out rolls from September 2010 to September 2024. Roll weeks move a little more than control weeks, 3.2 ticks against 2.7 on average, but the average difference of half a tick is well inside the noise: the 95 percent interval runs from minus 1 to plus 2.2 ticks, and both the sign test and the Wilcoxon test are far from significant. The spread rose in 24 of the 50 roll weeks with a nonzero move, so there is no consistent direction either. The planned sensitivity checks, which drop wide quotes, drop weeks with Fed or ECB decisions, and adjust for carry, all agree. One added check, a control week three weeks out instead of four, gives a block-bootstrap interval that just excludes zero; it was not in the plan and comes from three large roll weeks. Because H1 and H2 do not hold we do not compute H3, the dollar cost. Numbers are from the main-test pull request, which is still in review.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about what the result means. We found no evidence of a roll-week effect, but the test is weaker than a flat no. The control week is further from expiry, where the deferred contract is quoted about twice as wide, which makes control moves look bigger and pushes the test toward finding nothing. In simulation a roll-week move 1.5 times the control's is detected only about 29 to 43 percent of the time with 57 rolls. Calendar spreads also mostly reflect the interest-rate gap, so we cannot say who pays or that rolling caused a move. Finally, we ran the main test on October 25 before the last team member's sign-off and before tagging the plan; that is recorded in the plan's deviation log.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A6B"/>
        </a:solidFill>
        <a:effectLst/>
      </p:bgPr>
    </p:bg>
    <p:spTree>
      <p:nvGrpSpPr>
        <p:cNvPr id="1" name=""/>
        <p:cNvGrpSpPr/>
        <p:nvPr/>
      </p:nvGrpSpPr>
      <p:grpSpPr/>
      <p:sp>
        <p:nvSpPr>
          <p:cNvPr id="2" name="Title"/>
          <p:cNvSpPr txBox="1"/>
          <p:nvPr/>
        </p:nvSpPr>
        <p:spPr>
          <a:xfrm>
            <a:off x="548640" y="822960"/>
            <a:ext cx="4937760" cy="1371600"/>
          </a:xfrm>
          <a:prstGeom prst="rect">
            <a:avLst/>
          </a:prstGeom>
          <a:noFill/>
        </p:spPr>
        <p:txBody>
          <a:bodyPr wrap="square" lIns="0" rIns="0" tIns="0" bIns="0" anchor="t">
            <a:spAutoFit/>
          </a:bodyPr>
          <a:lstStyle/>
          <a:p>
            <a:pPr algn="l"/>
            <a:r>
              <a:rPr sz="4000" b="1" i="0">
                <a:solidFill>
                  <a:srgbClr val="FFFFFF"/>
                </a:solidFill>
                <a:latin typeface="Cambria"/>
              </a:rPr>
              <a:t>Euro FX futures roll pressure</a:t>
            </a:r>
          </a:p>
        </p:txBody>
      </p:sp>
      <p:sp>
        <p:nvSpPr>
          <p:cNvPr id="3" name="Subtitle"/>
          <p:cNvSpPr txBox="1"/>
          <p:nvPr/>
        </p:nvSpPr>
        <p:spPr>
          <a:xfrm>
            <a:off x="548640" y="2331720"/>
            <a:ext cx="4754880" cy="914400"/>
          </a:xfrm>
          <a:prstGeom prst="rect">
            <a:avLst/>
          </a:prstGeom>
          <a:noFill/>
        </p:spPr>
        <p:txBody>
          <a:bodyPr wrap="square" lIns="0" rIns="0" tIns="0" bIns="0" anchor="t">
            <a:spAutoFit/>
          </a:bodyPr>
          <a:lstStyle/>
          <a:p>
            <a:pPr algn="l"/>
            <a:r>
              <a:rPr sz="1800" b="0" i="0">
                <a:solidFill>
                  <a:srgbClr val="9AA7C7"/>
                </a:solidFill>
                <a:latin typeface="Calibri"/>
              </a:rPr>
              <a:t>Do calendar spreads move more during quarterly roll weeks than in comparable non-roll weeks?</a:t>
            </a:r>
          </a:p>
        </p:txBody>
      </p:sp>
      <p:sp>
        <p:nvSpPr>
          <p:cNvPr id="4" name="Team"/>
          <p:cNvSpPr txBox="1"/>
          <p:nvPr/>
        </p:nvSpPr>
        <p:spPr>
          <a:xfrm>
            <a:off x="548640" y="3931920"/>
            <a:ext cx="5120640" cy="640080"/>
          </a:xfrm>
          <a:prstGeom prst="rect">
            <a:avLst/>
          </a:prstGeom>
          <a:noFill/>
        </p:spPr>
        <p:txBody>
          <a:bodyPr wrap="square" lIns="0" rIns="0" tIns="0" bIns="0" anchor="t">
            <a:spAutoFit/>
          </a:bodyPr>
          <a:lstStyle/>
          <a:p>
            <a:pPr algn="l"/>
            <a:r>
              <a:rPr sz="1200" b="0" i="0">
                <a:solidFill>
                  <a:srgbClr val="EDF0F8"/>
                </a:solidFill>
                <a:latin typeface="Calibri"/>
              </a:rPr>
              <a:t>FINM 37000  |  Futures and Related Derivatives</a:t>
            </a:r>
          </a:p>
          <a:p>
            <a:pPr algn="l"/>
            <a:r>
              <a:rPr sz="1200" b="0" i="0">
                <a:solidFill>
                  <a:srgbClr val="EDF0F8"/>
                </a:solidFill>
                <a:latin typeface="Calibri"/>
              </a:rPr>
              <a:t>Chris Mulligan, Sidharth Saha, Shreya Enaganti, Gonzalo Romero</a:t>
            </a:r>
          </a:p>
        </p:txBody>
      </p:sp>
      <p:sp>
        <p:nvSpPr>
          <p:cNvPr id="5" name="Front contract"/>
          <p:cNvSpPr/>
          <p:nvPr/>
        </p:nvSpPr>
        <p:spPr>
          <a:xfrm>
            <a:off x="5943600" y="822960"/>
            <a:ext cx="2651760" cy="914400"/>
          </a:xfrm>
          <a:prstGeom prst="roundRect">
            <a:avLst>
              <a:gd name="adj" fmla="val 12000"/>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0" y="822960"/>
            <a:ext cx="2651760" cy="914400"/>
          </a:xfrm>
          <a:prstGeom prst="rect">
            <a:avLst/>
          </a:prstGeom>
          <a:noFill/>
        </p:spPr>
        <p:txBody>
          <a:bodyPr wrap="square" lIns="0" rIns="0" tIns="0" bIns="0" anchor="ctr">
            <a:spAutoFit/>
          </a:bodyPr>
          <a:lstStyle/>
          <a:p>
            <a:pPr algn="ctr"/>
            <a:r>
              <a:rPr sz="1200" b="0" i="0">
                <a:solidFill>
                  <a:srgbClr val="FFFFFF"/>
                </a:solidFill>
                <a:latin typeface="Calibri"/>
              </a:rPr>
              <a:t>Front contract</a:t>
            </a:r>
          </a:p>
          <a:p>
            <a:pPr algn="ctr"/>
            <a:r>
              <a:rPr sz="1800" b="1" i="0">
                <a:solidFill>
                  <a:srgbClr val="FFFFFF"/>
                </a:solidFill>
                <a:latin typeface="Calibri"/>
              </a:rPr>
              <a:t>6EU6, expiring</a:t>
            </a:r>
          </a:p>
        </p:txBody>
      </p:sp>
      <p:sp>
        <p:nvSpPr>
          <p:cNvPr id="7" name="Roll arrow"/>
          <p:cNvSpPr/>
          <p:nvPr/>
        </p:nvSpPr>
        <p:spPr>
          <a:xfrm>
            <a:off x="6995160" y="1874519"/>
            <a:ext cx="548640" cy="685800"/>
          </a:xfrm>
          <a:prstGeom prst="downArrow">
            <a:avLst/>
          </a:prstGeom>
          <a:solidFill>
            <a:srgbClr val="E3A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0" y="2057400"/>
            <a:ext cx="914400" cy="320040"/>
          </a:xfrm>
          <a:prstGeom prst="rect">
            <a:avLst/>
          </a:prstGeom>
          <a:noFill/>
        </p:spPr>
        <p:txBody>
          <a:bodyPr wrap="square" lIns="0" rIns="0" tIns="0" bIns="0" anchor="t">
            <a:spAutoFit/>
          </a:bodyPr>
          <a:lstStyle/>
          <a:p>
            <a:pPr algn="l"/>
            <a:r>
              <a:rPr sz="1400" b="1" i="0">
                <a:solidFill>
                  <a:srgbClr val="E3A71B"/>
                </a:solidFill>
                <a:latin typeface="Calibri"/>
              </a:rPr>
              <a:t>roll</a:t>
            </a:r>
          </a:p>
        </p:txBody>
      </p:sp>
      <p:sp>
        <p:nvSpPr>
          <p:cNvPr id="9" name="Deferred contract"/>
          <p:cNvSpPr/>
          <p:nvPr/>
        </p:nvSpPr>
        <p:spPr>
          <a:xfrm>
            <a:off x="5943600" y="2697480"/>
            <a:ext cx="2651760" cy="914400"/>
          </a:xfrm>
          <a:prstGeom prst="roundRect">
            <a:avLst>
              <a:gd name="adj" fmla="val 12000"/>
            </a:avLst>
          </a:prstGeom>
          <a:solidFill>
            <a:srgbClr val="3B5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0" y="2697480"/>
            <a:ext cx="2651760" cy="914400"/>
          </a:xfrm>
          <a:prstGeom prst="rect">
            <a:avLst/>
          </a:prstGeom>
          <a:noFill/>
        </p:spPr>
        <p:txBody>
          <a:bodyPr wrap="square" lIns="0" rIns="0" tIns="0" bIns="0" anchor="ctr">
            <a:spAutoFit/>
          </a:bodyPr>
          <a:lstStyle/>
          <a:p>
            <a:pPr algn="ctr"/>
            <a:r>
              <a:rPr sz="1200" b="0" i="0">
                <a:solidFill>
                  <a:srgbClr val="FFFFFF"/>
                </a:solidFill>
                <a:latin typeface="Calibri"/>
              </a:rPr>
              <a:t>Deferred contract</a:t>
            </a:r>
          </a:p>
          <a:p>
            <a:pPr algn="ctr"/>
            <a:r>
              <a:rPr sz="1800" b="1" i="0">
                <a:solidFill>
                  <a:srgbClr val="FFFFFF"/>
                </a:solidFill>
                <a:latin typeface="Calibri"/>
              </a:rPr>
              <a:t>6EZ6, next quarter</a:t>
            </a:r>
          </a:p>
        </p:txBody>
      </p:sp>
      <p:sp>
        <p:nvSpPr>
          <p:cNvPr id="11" name="TextBox 10"/>
          <p:cNvSpPr txBox="1"/>
          <p:nvPr/>
        </p:nvSpPr>
        <p:spPr>
          <a:xfrm>
            <a:off x="5943600" y="3840480"/>
            <a:ext cx="2651760" cy="640080"/>
          </a:xfrm>
          <a:prstGeom prst="rect">
            <a:avLst/>
          </a:prstGeom>
          <a:noFill/>
        </p:spPr>
        <p:txBody>
          <a:bodyPr wrap="square" lIns="0" rIns="0" tIns="0" bIns="0" anchor="t">
            <a:spAutoFit/>
          </a:bodyPr>
          <a:lstStyle/>
          <a:p>
            <a:pPr algn="l"/>
            <a:r>
              <a:rPr sz="1200" b="0" i="0">
                <a:solidFill>
                  <a:srgbClr val="EDF0F8"/>
                </a:solidFill>
                <a:latin typeface="Calibri"/>
              </a:rPr>
              <a:t>Spread = deferred minus front. One tick = USD 6.25 per contract.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20040"/>
            <a:ext cx="8046720" cy="731520"/>
          </a:xfrm>
          <a:prstGeom prst="rect">
            <a:avLst/>
          </a:prstGeom>
          <a:noFill/>
        </p:spPr>
        <p:txBody>
          <a:bodyPr wrap="square" lIns="0" rIns="0" tIns="0" bIns="0" anchor="ctr">
            <a:spAutoFit/>
          </a:bodyPr>
          <a:lstStyle/>
          <a:p>
            <a:pPr algn="l"/>
            <a:r>
              <a:rPr sz="3200" b="1" i="0">
                <a:solidFill>
                  <a:srgbClr val="0F2A6B"/>
                </a:solidFill>
                <a:latin typeface="Cambria"/>
              </a:rPr>
              <a:t>How we test it</a:t>
            </a:r>
          </a:p>
        </p:txBody>
      </p:sp>
      <p:sp>
        <p:nvSpPr>
          <p:cNvPr id="3" name="Method bullets"/>
          <p:cNvSpPr txBox="1"/>
          <p:nvPr/>
        </p:nvSpPr>
        <p:spPr>
          <a:xfrm>
            <a:off x="548640" y="1325880"/>
            <a:ext cx="3840480" cy="3108960"/>
          </a:xfrm>
          <a:prstGeom prst="rect">
            <a:avLst/>
          </a:prstGeom>
          <a:noFill/>
        </p:spPr>
        <p:txBody>
          <a:bodyPr wrap="square" lIns="0" rIns="0" tIns="0" bIns="0" anchor="t">
            <a:spAutoFit/>
          </a:bodyPr>
          <a:lstStyle/>
          <a:p>
            <a:pPr algn="l" marL="201168" indent="-201168">
              <a:spcAft>
                <a:spcPts val="1000"/>
              </a:spcAft>
              <a:buChar char="•"/>
            </a:pPr>
            <a:r>
              <a:rPr sz="1500" b="1" i="0">
                <a:solidFill>
                  <a:srgbClr val="0F2A6B"/>
                </a:solidFill>
                <a:latin typeface="Calibri"/>
              </a:rPr>
              <a:t>Spread, in ticks.</a:t>
            </a:r>
            <a:r>
              <a:rPr sz="1500" b="0" i="0">
                <a:solidFill>
                  <a:srgbClr val="1B2336"/>
                </a:solidFill>
                <a:latin typeface="Calibri"/>
              </a:rPr>
              <a:t> Deferred midpoint minus front midpoint at 10:00 Chicago each weekday.</a:t>
            </a:r>
          </a:p>
          <a:p>
            <a:pPr algn="l" marL="201168" indent="-201168">
              <a:spcAft>
                <a:spcPts val="1000"/>
              </a:spcAft>
              <a:buChar char="•"/>
            </a:pPr>
            <a:r>
              <a:rPr sz="1500" b="1" i="0">
                <a:solidFill>
                  <a:srgbClr val="0F2A6B"/>
                </a:solidFill>
                <a:latin typeface="Calibri"/>
              </a:rPr>
              <a:t>Paired by roll.</a:t>
            </a:r>
            <a:r>
              <a:rPr sz="1500" b="0" i="0">
                <a:solidFill>
                  <a:srgbClr val="1B2336"/>
                </a:solidFill>
                <a:latin typeface="Calibri"/>
              </a:rPr>
              <a:t> Roll week vs. a control week four weeks earlier. Listed-spread volume peaks in the roll week (80 to 87%).</a:t>
            </a:r>
          </a:p>
          <a:p>
            <a:pPr algn="l" marL="201168" indent="-201168">
              <a:spcAft>
                <a:spcPts val="1000"/>
              </a:spcAft>
              <a:buChar char="•"/>
            </a:pPr>
            <a:r>
              <a:rPr sz="1500" b="1" i="0">
                <a:solidFill>
                  <a:srgbClr val="0F2A6B"/>
                </a:solidFill>
                <a:latin typeface="Calibri"/>
              </a:rPr>
              <a:t>Test statistic.</a:t>
            </a:r>
            <a:r>
              <a:rPr sz="1500" b="0" i="0">
                <a:solidFill>
                  <a:srgbClr val="1B2336"/>
                </a:solidFill>
                <a:latin typeface="Calibri"/>
              </a:rPr>
              <a:t> d = |net roll-week move| minus |net control-week move|, one number per roll.</a:t>
            </a:r>
          </a:p>
          <a:p>
            <a:pPr algn="l" marL="201168" indent="-201168">
              <a:spcAft>
                <a:spcPts val="1000"/>
              </a:spcAft>
              <a:buChar char="•"/>
            </a:pPr>
            <a:r>
              <a:rPr sz="1500" b="1" i="0">
                <a:solidFill>
                  <a:srgbClr val="0F2A6B"/>
                </a:solidFill>
                <a:latin typeface="Calibri"/>
              </a:rPr>
              <a:t>Held out.</a:t>
            </a:r>
            <a:r>
              <a:rPr sz="1500" b="0" i="0">
                <a:solidFill>
                  <a:srgbClr val="1B2336"/>
                </a:solidFill>
                <a:latin typeface="Calibri"/>
              </a:rPr>
              <a:t> 57 rolls from 2010 to 2024 for the test. The 8 recent rolls are exploratory only.</a:t>
            </a:r>
          </a:p>
        </p:txBody>
      </p:sp>
      <p:sp>
        <p:nvSpPr>
          <p:cNvPr id="4" name="TextBox 3"/>
          <p:cNvSpPr txBox="1"/>
          <p:nvPr/>
        </p:nvSpPr>
        <p:spPr>
          <a:xfrm>
            <a:off x="4709160" y="1783080"/>
            <a:ext cx="3931920" cy="320040"/>
          </a:xfrm>
          <a:prstGeom prst="rect">
            <a:avLst/>
          </a:prstGeom>
          <a:noFill/>
        </p:spPr>
        <p:txBody>
          <a:bodyPr wrap="square" lIns="0" rIns="0" tIns="0" bIns="0" anchor="t">
            <a:spAutoFit/>
          </a:bodyPr>
          <a:lstStyle/>
          <a:p>
            <a:pPr algn="l"/>
            <a:r>
              <a:rPr sz="1200" b="0" i="0">
                <a:solidFill>
                  <a:srgbClr val="7A869E"/>
                </a:solidFill>
                <a:latin typeface="Calibri"/>
              </a:rPr>
              <a:t>Weeks before expiry</a:t>
            </a:r>
          </a:p>
        </p:txBody>
      </p:sp>
      <p:sp>
        <p:nvSpPr>
          <p:cNvPr id="5" name="Week 1"/>
          <p:cNvSpPr/>
          <p:nvPr/>
        </p:nvSpPr>
        <p:spPr>
          <a:xfrm>
            <a:off x="4709160" y="2377440"/>
            <a:ext cx="713232" cy="822960"/>
          </a:xfrm>
          <a:prstGeom prst="roundRect">
            <a:avLst>
              <a:gd name="adj" fmla="val 10000"/>
            </a:avLst>
          </a:prstGeom>
          <a:solidFill>
            <a:srgbClr val="E3A71B"/>
          </a:solidFill>
          <a:ln w="9525">
            <a:solidFill>
              <a:srgbClr val="E3A7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736592" y="2377440"/>
            <a:ext cx="658368" cy="822960"/>
          </a:xfrm>
          <a:prstGeom prst="rect">
            <a:avLst/>
          </a:prstGeom>
          <a:noFill/>
        </p:spPr>
        <p:txBody>
          <a:bodyPr wrap="square" lIns="0" rIns="0" tIns="0" bIns="0" anchor="ctr">
            <a:spAutoFit/>
          </a:bodyPr>
          <a:lstStyle/>
          <a:p>
            <a:pPr algn="ctr"/>
            <a:r>
              <a:rPr sz="1200" b="1" i="0">
                <a:solidFill>
                  <a:srgbClr val="1B2336"/>
                </a:solidFill>
                <a:latin typeface="Calibri"/>
              </a:rPr>
              <a:t>Control week</a:t>
            </a:r>
          </a:p>
        </p:txBody>
      </p:sp>
      <p:sp>
        <p:nvSpPr>
          <p:cNvPr id="7" name="Week 2"/>
          <p:cNvSpPr/>
          <p:nvPr/>
        </p:nvSpPr>
        <p:spPr>
          <a:xfrm>
            <a:off x="5495544" y="2377440"/>
            <a:ext cx="713232" cy="822960"/>
          </a:xfrm>
          <a:prstGeom prst="roundRect">
            <a:avLst>
              <a:gd name="adj" fmla="val 10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Week 3"/>
          <p:cNvSpPr/>
          <p:nvPr/>
        </p:nvSpPr>
        <p:spPr>
          <a:xfrm>
            <a:off x="6281928" y="2377440"/>
            <a:ext cx="713232" cy="822960"/>
          </a:xfrm>
          <a:prstGeom prst="roundRect">
            <a:avLst>
              <a:gd name="adj" fmla="val 10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Week 4"/>
          <p:cNvSpPr/>
          <p:nvPr/>
        </p:nvSpPr>
        <p:spPr>
          <a:xfrm>
            <a:off x="7068312" y="2377440"/>
            <a:ext cx="713232" cy="822960"/>
          </a:xfrm>
          <a:prstGeom prst="roundRect">
            <a:avLst>
              <a:gd name="adj" fmla="val 10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Week 5"/>
          <p:cNvSpPr/>
          <p:nvPr/>
        </p:nvSpPr>
        <p:spPr>
          <a:xfrm>
            <a:off x="7854696" y="2377440"/>
            <a:ext cx="713232" cy="822960"/>
          </a:xfrm>
          <a:prstGeom prst="roundRect">
            <a:avLst>
              <a:gd name="adj" fmla="val 10000"/>
            </a:avLst>
          </a:prstGeom>
          <a:solidFill>
            <a:srgbClr val="3B5BA9"/>
          </a:solidFill>
          <a:ln w="9525">
            <a:solidFill>
              <a:srgbClr val="3B5BA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82127" y="2377440"/>
            <a:ext cx="658368" cy="822960"/>
          </a:xfrm>
          <a:prstGeom prst="rect">
            <a:avLst/>
          </a:prstGeom>
          <a:noFill/>
        </p:spPr>
        <p:txBody>
          <a:bodyPr wrap="square" lIns="0" rIns="0" tIns="0" bIns="0" anchor="ctr">
            <a:spAutoFit/>
          </a:bodyPr>
          <a:lstStyle/>
          <a:p>
            <a:pPr algn="ctr"/>
            <a:r>
              <a:rPr sz="1200" b="1" i="0">
                <a:solidFill>
                  <a:srgbClr val="FFFFFF"/>
                </a:solidFill>
                <a:latin typeface="Calibri"/>
              </a:rPr>
              <a:t>Roll week</a:t>
            </a:r>
          </a:p>
        </p:txBody>
      </p:sp>
      <p:sp>
        <p:nvSpPr>
          <p:cNvPr id="12" name="Expiry flag"/>
          <p:cNvSpPr/>
          <p:nvPr/>
        </p:nvSpPr>
        <p:spPr>
          <a:xfrm>
            <a:off x="8659367" y="2331720"/>
            <a:ext cx="228600" cy="365760"/>
          </a:xfrm>
          <a:prstGeom prst="triangle">
            <a:avLst/>
          </a:prstGeom>
          <a:solidFill>
            <a:srgbClr val="B54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59" y="2834640"/>
            <a:ext cx="822960" cy="274320"/>
          </a:xfrm>
          <a:prstGeom prst="rect">
            <a:avLst/>
          </a:prstGeom>
          <a:noFill/>
        </p:spPr>
        <p:txBody>
          <a:bodyPr wrap="square" lIns="0" rIns="0" tIns="0" bIns="0" anchor="t">
            <a:spAutoFit/>
          </a:bodyPr>
          <a:lstStyle/>
          <a:p>
            <a:pPr algn="ctr"/>
            <a:r>
              <a:rPr sz="1200" b="1" i="0">
                <a:solidFill>
                  <a:srgbClr val="B5483A"/>
                </a:solidFill>
                <a:latin typeface="Calibri"/>
              </a:rPr>
              <a:t>Expiry</a:t>
            </a:r>
          </a:p>
        </p:txBody>
      </p:sp>
      <p:sp>
        <p:nvSpPr>
          <p:cNvPr id="14" name="TextBox 13"/>
          <p:cNvSpPr txBox="1"/>
          <p:nvPr/>
        </p:nvSpPr>
        <p:spPr>
          <a:xfrm>
            <a:off x="4709160" y="3337560"/>
            <a:ext cx="3566160" cy="320040"/>
          </a:xfrm>
          <a:prstGeom prst="rect">
            <a:avLst/>
          </a:prstGeom>
          <a:noFill/>
        </p:spPr>
        <p:txBody>
          <a:bodyPr wrap="square" lIns="0" rIns="0" tIns="0" bIns="0" anchor="t">
            <a:spAutoFit/>
          </a:bodyPr>
          <a:lstStyle/>
          <a:p>
            <a:pPr algn="ctr"/>
            <a:r>
              <a:rPr sz="1200" b="0" i="0">
                <a:solidFill>
                  <a:srgbClr val="1B2336"/>
                </a:solidFill>
                <a:latin typeface="Calibri"/>
              </a:rPr>
              <a:t>4 weeks apart</a:t>
            </a:r>
          </a:p>
        </p:txBody>
      </p:sp>
      <p:sp>
        <p:nvSpPr>
          <p:cNvPr id="15" name="TextBox 14"/>
          <p:cNvSpPr txBox="1"/>
          <p:nvPr/>
        </p:nvSpPr>
        <p:spPr>
          <a:xfrm>
            <a:off x="4709160" y="3703320"/>
            <a:ext cx="4023360" cy="548640"/>
          </a:xfrm>
          <a:prstGeom prst="rect">
            <a:avLst/>
          </a:prstGeom>
          <a:noFill/>
        </p:spPr>
        <p:txBody>
          <a:bodyPr wrap="square" lIns="0" rIns="0" tIns="0" bIns="0" anchor="t">
            <a:spAutoFit/>
          </a:bodyPr>
          <a:lstStyle/>
          <a:p>
            <a:pPr algn="l"/>
            <a:r>
              <a:rPr sz="1200" b="0" i="0">
                <a:solidFill>
                  <a:srgbClr val="7A869E"/>
                </a:solidFill>
                <a:latin typeface="Calibri"/>
              </a:rPr>
              <a:t>Each window: Friday 10:00 snapshot to Friday 10:00 snapshot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20040"/>
            <a:ext cx="8046720" cy="731520"/>
          </a:xfrm>
          <a:prstGeom prst="rect">
            <a:avLst/>
          </a:prstGeom>
          <a:noFill/>
        </p:spPr>
        <p:txBody>
          <a:bodyPr wrap="square" lIns="0" rIns="0" tIns="0" bIns="0" anchor="ctr">
            <a:spAutoFit/>
          </a:bodyPr>
          <a:lstStyle/>
          <a:p>
            <a:pPr algn="l"/>
            <a:r>
              <a:rPr sz="3200" b="1" i="0">
                <a:solidFill>
                  <a:srgbClr val="0F2A6B"/>
                </a:solidFill>
                <a:latin typeface="Cambria"/>
              </a:rPr>
              <a:t>What we built</a:t>
            </a:r>
          </a:p>
        </p:txBody>
      </p:sp>
      <p:sp>
        <p:nvSpPr>
          <p:cNvPr id="3" name="Step Data"/>
          <p:cNvSpPr/>
          <p:nvPr/>
        </p:nvSpPr>
        <p:spPr>
          <a:xfrm>
            <a:off x="548640" y="1417320"/>
            <a:ext cx="1463040" cy="160020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527048"/>
            <a:ext cx="1280160" cy="365760"/>
          </a:xfrm>
          <a:prstGeom prst="rect">
            <a:avLst/>
          </a:prstGeom>
          <a:noFill/>
        </p:spPr>
        <p:txBody>
          <a:bodyPr wrap="square" lIns="0" rIns="0" tIns="0" bIns="0" anchor="t">
            <a:spAutoFit/>
          </a:bodyPr>
          <a:lstStyle/>
          <a:p>
            <a:pPr algn="l"/>
            <a:r>
              <a:rPr sz="1600" b="1" i="0">
                <a:solidFill>
                  <a:srgbClr val="0F2A6B"/>
                </a:solidFill>
                <a:latin typeface="Cambria"/>
              </a:rPr>
              <a:t>Data</a:t>
            </a:r>
          </a:p>
        </p:txBody>
      </p:sp>
      <p:sp>
        <p:nvSpPr>
          <p:cNvPr id="5" name="TextBox 4"/>
          <p:cNvSpPr txBox="1"/>
          <p:nvPr/>
        </p:nvSpPr>
        <p:spPr>
          <a:xfrm>
            <a:off x="640080" y="1920240"/>
            <a:ext cx="1280160" cy="640080"/>
          </a:xfrm>
          <a:prstGeom prst="rect">
            <a:avLst/>
          </a:prstGeom>
          <a:noFill/>
        </p:spPr>
        <p:txBody>
          <a:bodyPr wrap="square" lIns="0" rIns="0" tIns="0" bIns="0" anchor="t">
            <a:spAutoFit/>
          </a:bodyPr>
          <a:lstStyle/>
          <a:p>
            <a:pPr algn="l"/>
            <a:r>
              <a:rPr sz="1200" b="0" i="0">
                <a:solidFill>
                  <a:srgbClr val="1B2336"/>
                </a:solidFill>
                <a:latin typeface="Calibri"/>
              </a:rPr>
              <a:t>Databento download with a local cache</a:t>
            </a:r>
          </a:p>
        </p:txBody>
      </p:sp>
      <p:sp>
        <p:nvSpPr>
          <p:cNvPr id="6" name="Status Data"/>
          <p:cNvSpPr/>
          <p:nvPr/>
        </p:nvSpPr>
        <p:spPr>
          <a:xfrm>
            <a:off x="640080" y="2606039"/>
            <a:ext cx="868680" cy="274320"/>
          </a:xfrm>
          <a:prstGeom prst="roundRect">
            <a:avLst>
              <a:gd name="adj" fmla="val 50000"/>
            </a:avLst>
          </a:prstGeom>
          <a:solidFill>
            <a:srgbClr val="2E8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606039"/>
            <a:ext cx="868680" cy="274320"/>
          </a:xfrm>
          <a:prstGeom prst="rect">
            <a:avLst/>
          </a:prstGeom>
          <a:noFill/>
        </p:spPr>
        <p:txBody>
          <a:bodyPr wrap="square" lIns="0" rIns="0" tIns="0" bIns="0" anchor="ctr">
            <a:spAutoFit/>
          </a:bodyPr>
          <a:lstStyle/>
          <a:p>
            <a:pPr algn="ctr"/>
            <a:r>
              <a:rPr sz="1100" b="1" i="0">
                <a:solidFill>
                  <a:srgbClr val="FFFFFF"/>
                </a:solidFill>
                <a:latin typeface="Calibri"/>
              </a:rPr>
              <a:t>merged</a:t>
            </a:r>
          </a:p>
        </p:txBody>
      </p:sp>
      <p:sp>
        <p:nvSpPr>
          <p:cNvPr id="8" name="TextBox 7"/>
          <p:cNvSpPr txBox="1"/>
          <p:nvPr/>
        </p:nvSpPr>
        <p:spPr>
          <a:xfrm>
            <a:off x="1938528" y="1920240"/>
            <a:ext cx="329184" cy="457200"/>
          </a:xfrm>
          <a:prstGeom prst="rect">
            <a:avLst/>
          </a:prstGeom>
          <a:noFill/>
        </p:spPr>
        <p:txBody>
          <a:bodyPr wrap="square" lIns="0" rIns="0" tIns="0" bIns="0" anchor="t">
            <a:spAutoFit/>
          </a:bodyPr>
          <a:lstStyle/>
          <a:p>
            <a:pPr algn="ctr"/>
            <a:r>
              <a:rPr sz="1600" b="0" i="0">
                <a:solidFill>
                  <a:srgbClr val="7A869E"/>
                </a:solidFill>
                <a:latin typeface="Calibri"/>
              </a:rPr>
              <a:t>→</a:t>
            </a:r>
          </a:p>
        </p:txBody>
      </p:sp>
      <p:sp>
        <p:nvSpPr>
          <p:cNvPr id="9" name="Step Roll calendar"/>
          <p:cNvSpPr/>
          <p:nvPr/>
        </p:nvSpPr>
        <p:spPr>
          <a:xfrm>
            <a:off x="2194560" y="1417320"/>
            <a:ext cx="1463040" cy="160020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527048"/>
            <a:ext cx="1280160" cy="365760"/>
          </a:xfrm>
          <a:prstGeom prst="rect">
            <a:avLst/>
          </a:prstGeom>
          <a:noFill/>
        </p:spPr>
        <p:txBody>
          <a:bodyPr wrap="square" lIns="0" rIns="0" tIns="0" bIns="0" anchor="t">
            <a:spAutoFit/>
          </a:bodyPr>
          <a:lstStyle/>
          <a:p>
            <a:pPr algn="l"/>
            <a:r>
              <a:rPr sz="1600" b="1" i="0">
                <a:solidFill>
                  <a:srgbClr val="0F2A6B"/>
                </a:solidFill>
                <a:latin typeface="Cambria"/>
              </a:rPr>
              <a:t>Roll calendar</a:t>
            </a:r>
          </a:p>
        </p:txBody>
      </p:sp>
      <p:sp>
        <p:nvSpPr>
          <p:cNvPr id="11" name="TextBox 10"/>
          <p:cNvSpPr txBox="1"/>
          <p:nvPr/>
        </p:nvSpPr>
        <p:spPr>
          <a:xfrm>
            <a:off x="2286000" y="1920240"/>
            <a:ext cx="1280160" cy="640080"/>
          </a:xfrm>
          <a:prstGeom prst="rect">
            <a:avLst/>
          </a:prstGeom>
          <a:noFill/>
        </p:spPr>
        <p:txBody>
          <a:bodyPr wrap="square" lIns="0" rIns="0" tIns="0" bIns="0" anchor="t">
            <a:spAutoFit/>
          </a:bodyPr>
          <a:lstStyle/>
          <a:p>
            <a:pPr algn="l"/>
            <a:r>
              <a:rPr sz="1200" b="0" i="0">
                <a:solidFill>
                  <a:srgbClr val="1B2336"/>
                </a:solidFill>
                <a:latin typeface="Calibri"/>
              </a:rPr>
              <a:t>Expiries, with CME holidays</a:t>
            </a:r>
          </a:p>
        </p:txBody>
      </p:sp>
      <p:sp>
        <p:nvSpPr>
          <p:cNvPr id="12" name="Status Roll calendar"/>
          <p:cNvSpPr/>
          <p:nvPr/>
        </p:nvSpPr>
        <p:spPr>
          <a:xfrm>
            <a:off x="2286000" y="2606039"/>
            <a:ext cx="868680" cy="274320"/>
          </a:xfrm>
          <a:prstGeom prst="roundRect">
            <a:avLst>
              <a:gd name="adj" fmla="val 50000"/>
            </a:avLst>
          </a:prstGeom>
          <a:solidFill>
            <a:srgbClr val="E3A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86000" y="2606039"/>
            <a:ext cx="868680" cy="274320"/>
          </a:xfrm>
          <a:prstGeom prst="rect">
            <a:avLst/>
          </a:prstGeom>
          <a:noFill/>
        </p:spPr>
        <p:txBody>
          <a:bodyPr wrap="square" lIns="0" rIns="0" tIns="0" bIns="0" anchor="ctr">
            <a:spAutoFit/>
          </a:bodyPr>
          <a:lstStyle/>
          <a:p>
            <a:pPr algn="ctr"/>
            <a:r>
              <a:rPr sz="1100" b="1" i="0">
                <a:solidFill>
                  <a:srgbClr val="1B2336"/>
                </a:solidFill>
                <a:latin typeface="Calibri"/>
              </a:rPr>
              <a:t>in review</a:t>
            </a:r>
          </a:p>
        </p:txBody>
      </p:sp>
      <p:sp>
        <p:nvSpPr>
          <p:cNvPr id="14" name="TextBox 13"/>
          <p:cNvSpPr txBox="1"/>
          <p:nvPr/>
        </p:nvSpPr>
        <p:spPr>
          <a:xfrm>
            <a:off x="3584448" y="1920240"/>
            <a:ext cx="329184" cy="457200"/>
          </a:xfrm>
          <a:prstGeom prst="rect">
            <a:avLst/>
          </a:prstGeom>
          <a:noFill/>
        </p:spPr>
        <p:txBody>
          <a:bodyPr wrap="square" lIns="0" rIns="0" tIns="0" bIns="0" anchor="t">
            <a:spAutoFit/>
          </a:bodyPr>
          <a:lstStyle/>
          <a:p>
            <a:pPr algn="ctr"/>
            <a:r>
              <a:rPr sz="1600" b="0" i="0">
                <a:solidFill>
                  <a:srgbClr val="7A869E"/>
                </a:solidFill>
                <a:latin typeface="Calibri"/>
              </a:rPr>
              <a:t>→</a:t>
            </a:r>
          </a:p>
        </p:txBody>
      </p:sp>
      <p:sp>
        <p:nvSpPr>
          <p:cNvPr id="15" name="Step Windows"/>
          <p:cNvSpPr/>
          <p:nvPr/>
        </p:nvSpPr>
        <p:spPr>
          <a:xfrm>
            <a:off x="3840480" y="1417320"/>
            <a:ext cx="1463040" cy="160020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31920" y="1527048"/>
            <a:ext cx="1280160" cy="365760"/>
          </a:xfrm>
          <a:prstGeom prst="rect">
            <a:avLst/>
          </a:prstGeom>
          <a:noFill/>
        </p:spPr>
        <p:txBody>
          <a:bodyPr wrap="square" lIns="0" rIns="0" tIns="0" bIns="0" anchor="t">
            <a:spAutoFit/>
          </a:bodyPr>
          <a:lstStyle/>
          <a:p>
            <a:pPr algn="l"/>
            <a:r>
              <a:rPr sz="1600" b="1" i="0">
                <a:solidFill>
                  <a:srgbClr val="0F2A6B"/>
                </a:solidFill>
                <a:latin typeface="Cambria"/>
              </a:rPr>
              <a:t>Windows</a:t>
            </a:r>
          </a:p>
        </p:txBody>
      </p:sp>
      <p:sp>
        <p:nvSpPr>
          <p:cNvPr id="17" name="TextBox 16"/>
          <p:cNvSpPr txBox="1"/>
          <p:nvPr/>
        </p:nvSpPr>
        <p:spPr>
          <a:xfrm>
            <a:off x="3931920" y="1920240"/>
            <a:ext cx="1280160" cy="640080"/>
          </a:xfrm>
          <a:prstGeom prst="rect">
            <a:avLst/>
          </a:prstGeom>
          <a:noFill/>
        </p:spPr>
        <p:txBody>
          <a:bodyPr wrap="square" lIns="0" rIns="0" tIns="0" bIns="0" anchor="t">
            <a:spAutoFit/>
          </a:bodyPr>
          <a:lstStyle/>
          <a:p>
            <a:pPr algn="l"/>
            <a:r>
              <a:rPr sz="1200" b="0" i="0">
                <a:solidFill>
                  <a:srgbClr val="1B2336"/>
                </a:solidFill>
                <a:latin typeface="Calibri"/>
              </a:rPr>
              <a:t>Roll and control weeks</a:t>
            </a:r>
          </a:p>
        </p:txBody>
      </p:sp>
      <p:sp>
        <p:nvSpPr>
          <p:cNvPr id="18" name="Status Windows"/>
          <p:cNvSpPr/>
          <p:nvPr/>
        </p:nvSpPr>
        <p:spPr>
          <a:xfrm>
            <a:off x="3931920" y="2606039"/>
            <a:ext cx="868680" cy="274320"/>
          </a:xfrm>
          <a:prstGeom prst="roundRect">
            <a:avLst>
              <a:gd name="adj" fmla="val 50000"/>
            </a:avLst>
          </a:prstGeom>
          <a:solidFill>
            <a:srgbClr val="2E8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2606039"/>
            <a:ext cx="868680" cy="274320"/>
          </a:xfrm>
          <a:prstGeom prst="rect">
            <a:avLst/>
          </a:prstGeom>
          <a:noFill/>
        </p:spPr>
        <p:txBody>
          <a:bodyPr wrap="square" lIns="0" rIns="0" tIns="0" bIns="0" anchor="ctr">
            <a:spAutoFit/>
          </a:bodyPr>
          <a:lstStyle/>
          <a:p>
            <a:pPr algn="ctr"/>
            <a:r>
              <a:rPr sz="1100" b="1" i="0">
                <a:solidFill>
                  <a:srgbClr val="FFFFFF"/>
                </a:solidFill>
                <a:latin typeface="Calibri"/>
              </a:rPr>
              <a:t>merged</a:t>
            </a:r>
          </a:p>
        </p:txBody>
      </p:sp>
      <p:sp>
        <p:nvSpPr>
          <p:cNvPr id="20" name="TextBox 19"/>
          <p:cNvSpPr txBox="1"/>
          <p:nvPr/>
        </p:nvSpPr>
        <p:spPr>
          <a:xfrm>
            <a:off x="5230368" y="1920240"/>
            <a:ext cx="329184" cy="457200"/>
          </a:xfrm>
          <a:prstGeom prst="rect">
            <a:avLst/>
          </a:prstGeom>
          <a:noFill/>
        </p:spPr>
        <p:txBody>
          <a:bodyPr wrap="square" lIns="0" rIns="0" tIns="0" bIns="0" anchor="t">
            <a:spAutoFit/>
          </a:bodyPr>
          <a:lstStyle/>
          <a:p>
            <a:pPr algn="ctr"/>
            <a:r>
              <a:rPr sz="1600" b="0" i="0">
                <a:solidFill>
                  <a:srgbClr val="7A869E"/>
                </a:solidFill>
                <a:latin typeface="Calibri"/>
              </a:rPr>
              <a:t>→</a:t>
            </a:r>
          </a:p>
        </p:txBody>
      </p:sp>
      <p:sp>
        <p:nvSpPr>
          <p:cNvPr id="21" name="Step Spread"/>
          <p:cNvSpPr/>
          <p:nvPr/>
        </p:nvSpPr>
        <p:spPr>
          <a:xfrm>
            <a:off x="5486400" y="1417320"/>
            <a:ext cx="1463040" cy="160020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1527048"/>
            <a:ext cx="1280160" cy="365760"/>
          </a:xfrm>
          <a:prstGeom prst="rect">
            <a:avLst/>
          </a:prstGeom>
          <a:noFill/>
        </p:spPr>
        <p:txBody>
          <a:bodyPr wrap="square" lIns="0" rIns="0" tIns="0" bIns="0" anchor="t">
            <a:spAutoFit/>
          </a:bodyPr>
          <a:lstStyle/>
          <a:p>
            <a:pPr algn="l"/>
            <a:r>
              <a:rPr sz="1600" b="1" i="0">
                <a:solidFill>
                  <a:srgbClr val="0F2A6B"/>
                </a:solidFill>
                <a:latin typeface="Cambria"/>
              </a:rPr>
              <a:t>Spread</a:t>
            </a:r>
          </a:p>
        </p:txBody>
      </p:sp>
      <p:sp>
        <p:nvSpPr>
          <p:cNvPr id="23" name="TextBox 22"/>
          <p:cNvSpPr txBox="1"/>
          <p:nvPr/>
        </p:nvSpPr>
        <p:spPr>
          <a:xfrm>
            <a:off x="5577840" y="1920240"/>
            <a:ext cx="1280160" cy="640080"/>
          </a:xfrm>
          <a:prstGeom prst="rect">
            <a:avLst/>
          </a:prstGeom>
          <a:noFill/>
        </p:spPr>
        <p:txBody>
          <a:bodyPr wrap="square" lIns="0" rIns="0" tIns="0" bIns="0" anchor="t">
            <a:spAutoFit/>
          </a:bodyPr>
          <a:lstStyle/>
          <a:p>
            <a:pPr algn="l"/>
            <a:r>
              <a:rPr sz="1200" b="0" i="0">
                <a:solidFill>
                  <a:srgbClr val="1B2336"/>
                </a:solidFill>
                <a:latin typeface="Calibri"/>
              </a:rPr>
              <a:t>10:00 snapshots and quote checks</a:t>
            </a:r>
          </a:p>
        </p:txBody>
      </p:sp>
      <p:sp>
        <p:nvSpPr>
          <p:cNvPr id="24" name="Status Spread"/>
          <p:cNvSpPr/>
          <p:nvPr/>
        </p:nvSpPr>
        <p:spPr>
          <a:xfrm>
            <a:off x="5577840" y="2606039"/>
            <a:ext cx="868680" cy="274320"/>
          </a:xfrm>
          <a:prstGeom prst="roundRect">
            <a:avLst>
              <a:gd name="adj" fmla="val 50000"/>
            </a:avLst>
          </a:prstGeom>
          <a:solidFill>
            <a:srgbClr val="2E8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2606039"/>
            <a:ext cx="868680" cy="274320"/>
          </a:xfrm>
          <a:prstGeom prst="rect">
            <a:avLst/>
          </a:prstGeom>
          <a:noFill/>
        </p:spPr>
        <p:txBody>
          <a:bodyPr wrap="square" lIns="0" rIns="0" tIns="0" bIns="0" anchor="ctr">
            <a:spAutoFit/>
          </a:bodyPr>
          <a:lstStyle/>
          <a:p>
            <a:pPr algn="ctr"/>
            <a:r>
              <a:rPr sz="1100" b="1" i="0">
                <a:solidFill>
                  <a:srgbClr val="FFFFFF"/>
                </a:solidFill>
                <a:latin typeface="Calibri"/>
              </a:rPr>
              <a:t>merged</a:t>
            </a:r>
          </a:p>
        </p:txBody>
      </p:sp>
      <p:sp>
        <p:nvSpPr>
          <p:cNvPr id="26" name="TextBox 25"/>
          <p:cNvSpPr txBox="1"/>
          <p:nvPr/>
        </p:nvSpPr>
        <p:spPr>
          <a:xfrm>
            <a:off x="6876288" y="1920240"/>
            <a:ext cx="329184" cy="457200"/>
          </a:xfrm>
          <a:prstGeom prst="rect">
            <a:avLst/>
          </a:prstGeom>
          <a:noFill/>
        </p:spPr>
        <p:txBody>
          <a:bodyPr wrap="square" lIns="0" rIns="0" tIns="0" bIns="0" anchor="t">
            <a:spAutoFit/>
          </a:bodyPr>
          <a:lstStyle/>
          <a:p>
            <a:pPr algn="ctr"/>
            <a:r>
              <a:rPr sz="1600" b="0" i="0">
                <a:solidFill>
                  <a:srgbClr val="7A869E"/>
                </a:solidFill>
                <a:latin typeface="Calibri"/>
              </a:rPr>
              <a:t>→</a:t>
            </a:r>
          </a:p>
        </p:txBody>
      </p:sp>
      <p:sp>
        <p:nvSpPr>
          <p:cNvPr id="27" name="Step Statistics"/>
          <p:cNvSpPr/>
          <p:nvPr/>
        </p:nvSpPr>
        <p:spPr>
          <a:xfrm>
            <a:off x="7132320" y="1417320"/>
            <a:ext cx="1463040" cy="160020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59" y="1527048"/>
            <a:ext cx="1280160" cy="365760"/>
          </a:xfrm>
          <a:prstGeom prst="rect">
            <a:avLst/>
          </a:prstGeom>
          <a:noFill/>
        </p:spPr>
        <p:txBody>
          <a:bodyPr wrap="square" lIns="0" rIns="0" tIns="0" bIns="0" anchor="t">
            <a:spAutoFit/>
          </a:bodyPr>
          <a:lstStyle/>
          <a:p>
            <a:pPr algn="l"/>
            <a:r>
              <a:rPr sz="1600" b="1" i="0">
                <a:solidFill>
                  <a:srgbClr val="0F2A6B"/>
                </a:solidFill>
                <a:latin typeface="Cambria"/>
              </a:rPr>
              <a:t>Statistics</a:t>
            </a:r>
          </a:p>
        </p:txBody>
      </p:sp>
      <p:sp>
        <p:nvSpPr>
          <p:cNvPr id="29" name="TextBox 28"/>
          <p:cNvSpPr txBox="1"/>
          <p:nvPr/>
        </p:nvSpPr>
        <p:spPr>
          <a:xfrm>
            <a:off x="7223759" y="1920240"/>
            <a:ext cx="1280160" cy="640080"/>
          </a:xfrm>
          <a:prstGeom prst="rect">
            <a:avLst/>
          </a:prstGeom>
          <a:noFill/>
        </p:spPr>
        <p:txBody>
          <a:bodyPr wrap="square" lIns="0" rIns="0" tIns="0" bIns="0" anchor="t">
            <a:spAutoFit/>
          </a:bodyPr>
          <a:lstStyle/>
          <a:p>
            <a:pPr algn="l"/>
            <a:r>
              <a:rPr sz="1200" b="0" i="0">
                <a:solidFill>
                  <a:srgbClr val="1B2336"/>
                </a:solidFill>
                <a:latin typeface="Calibri"/>
              </a:rPr>
              <a:t>Sign, Wilcoxon, bootstrap, runner</a:t>
            </a:r>
          </a:p>
        </p:txBody>
      </p:sp>
      <p:sp>
        <p:nvSpPr>
          <p:cNvPr id="30" name="Status Statistics"/>
          <p:cNvSpPr/>
          <p:nvPr/>
        </p:nvSpPr>
        <p:spPr>
          <a:xfrm>
            <a:off x="7223759" y="2606039"/>
            <a:ext cx="868680" cy="274320"/>
          </a:xfrm>
          <a:prstGeom prst="roundRect">
            <a:avLst>
              <a:gd name="adj" fmla="val 50000"/>
            </a:avLst>
          </a:prstGeom>
          <a:solidFill>
            <a:srgbClr val="E3A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59" y="2606039"/>
            <a:ext cx="868680" cy="274320"/>
          </a:xfrm>
          <a:prstGeom prst="rect">
            <a:avLst/>
          </a:prstGeom>
          <a:noFill/>
        </p:spPr>
        <p:txBody>
          <a:bodyPr wrap="square" lIns="0" rIns="0" tIns="0" bIns="0" anchor="ctr">
            <a:spAutoFit/>
          </a:bodyPr>
          <a:lstStyle/>
          <a:p>
            <a:pPr algn="ctr"/>
            <a:r>
              <a:rPr sz="1100" b="1" i="0">
                <a:solidFill>
                  <a:srgbClr val="1B2336"/>
                </a:solidFill>
                <a:latin typeface="Calibri"/>
              </a:rPr>
              <a:t>in review</a:t>
            </a:r>
          </a:p>
        </p:txBody>
      </p:sp>
      <p:sp>
        <p:nvSpPr>
          <p:cNvPr id="32" name="TextBox 31"/>
          <p:cNvSpPr txBox="1"/>
          <p:nvPr/>
        </p:nvSpPr>
        <p:spPr>
          <a:xfrm>
            <a:off x="548640" y="3383280"/>
            <a:ext cx="2560320" cy="640080"/>
          </a:xfrm>
          <a:prstGeom prst="rect">
            <a:avLst/>
          </a:prstGeom>
          <a:noFill/>
        </p:spPr>
        <p:txBody>
          <a:bodyPr wrap="square" lIns="0" rIns="0" tIns="0" bIns="0" anchor="t">
            <a:spAutoFit/>
          </a:bodyPr>
          <a:lstStyle/>
          <a:p>
            <a:pPr algn="l"/>
            <a:r>
              <a:rPr sz="3600" b="1" i="0">
                <a:solidFill>
                  <a:srgbClr val="3B5BA9"/>
                </a:solidFill>
                <a:latin typeface="Cambria"/>
              </a:rPr>
              <a:t>64 of 65</a:t>
            </a:r>
          </a:p>
        </p:txBody>
      </p:sp>
      <p:sp>
        <p:nvSpPr>
          <p:cNvPr id="33" name="TextBox 32"/>
          <p:cNvSpPr txBox="1"/>
          <p:nvPr/>
        </p:nvSpPr>
        <p:spPr>
          <a:xfrm>
            <a:off x="548640" y="4023360"/>
            <a:ext cx="2468880" cy="548640"/>
          </a:xfrm>
          <a:prstGeom prst="rect">
            <a:avLst/>
          </a:prstGeom>
          <a:noFill/>
        </p:spPr>
        <p:txBody>
          <a:bodyPr wrap="square" lIns="0" rIns="0" tIns="0" bIns="0" anchor="t">
            <a:spAutoFit/>
          </a:bodyPr>
          <a:lstStyle/>
          <a:p>
            <a:pPr algn="l"/>
            <a:r>
              <a:rPr sz="1200" b="0" i="0">
                <a:solidFill>
                  <a:srgbClr val="1B2336"/>
                </a:solidFill>
                <a:latin typeface="Calibri"/>
              </a:rPr>
              <a:t>front-contract expiries match Databento, 2010 to 2026</a:t>
            </a:r>
          </a:p>
        </p:txBody>
      </p:sp>
      <p:sp>
        <p:nvSpPr>
          <p:cNvPr id="34" name="TextBox 33"/>
          <p:cNvSpPr txBox="1"/>
          <p:nvPr/>
        </p:nvSpPr>
        <p:spPr>
          <a:xfrm>
            <a:off x="3291840" y="3383280"/>
            <a:ext cx="2560320" cy="640080"/>
          </a:xfrm>
          <a:prstGeom prst="rect">
            <a:avLst/>
          </a:prstGeom>
          <a:noFill/>
        </p:spPr>
        <p:txBody>
          <a:bodyPr wrap="square" lIns="0" rIns="0" tIns="0" bIns="0" anchor="t">
            <a:spAutoFit/>
          </a:bodyPr>
          <a:lstStyle/>
          <a:p>
            <a:pPr algn="l"/>
            <a:r>
              <a:rPr sz="3600" b="1" i="0">
                <a:solidFill>
                  <a:srgbClr val="3B5BA9"/>
                </a:solidFill>
                <a:latin typeface="Cambria"/>
              </a:rPr>
              <a:t>65 rolls</a:t>
            </a:r>
          </a:p>
        </p:txBody>
      </p:sp>
      <p:sp>
        <p:nvSpPr>
          <p:cNvPr id="35" name="TextBox 34"/>
          <p:cNvSpPr txBox="1"/>
          <p:nvPr/>
        </p:nvSpPr>
        <p:spPr>
          <a:xfrm>
            <a:off x="3291840" y="4023360"/>
            <a:ext cx="2468880" cy="548640"/>
          </a:xfrm>
          <a:prstGeom prst="rect">
            <a:avLst/>
          </a:prstGeom>
          <a:noFill/>
        </p:spPr>
        <p:txBody>
          <a:bodyPr wrap="square" lIns="0" rIns="0" tIns="0" bIns="0" anchor="t">
            <a:spAutoFit/>
          </a:bodyPr>
          <a:lstStyle/>
          <a:p>
            <a:pPr algn="l"/>
            <a:r>
              <a:rPr sz="1200" b="0" i="0">
                <a:solidFill>
                  <a:srgbClr val="1B2336"/>
                </a:solidFill>
                <a:latin typeface="Calibri"/>
              </a:rPr>
              <a:t>57 held out for the test, 8 recent ones exploratory</a:t>
            </a:r>
          </a:p>
        </p:txBody>
      </p:sp>
      <p:sp>
        <p:nvSpPr>
          <p:cNvPr id="36" name="TextBox 35"/>
          <p:cNvSpPr txBox="1"/>
          <p:nvPr/>
        </p:nvSpPr>
        <p:spPr>
          <a:xfrm>
            <a:off x="6035040" y="3383280"/>
            <a:ext cx="2560320" cy="640080"/>
          </a:xfrm>
          <a:prstGeom prst="rect">
            <a:avLst/>
          </a:prstGeom>
          <a:noFill/>
        </p:spPr>
        <p:txBody>
          <a:bodyPr wrap="square" lIns="0" rIns="0" tIns="0" bIns="0" anchor="t">
            <a:spAutoFit/>
          </a:bodyPr>
          <a:lstStyle/>
          <a:p>
            <a:pPr algn="l"/>
            <a:r>
              <a:rPr sz="3600" b="1" i="0">
                <a:solidFill>
                  <a:srgbClr val="3B5BA9"/>
                </a:solidFill>
                <a:latin typeface="Cambria"/>
              </a:rPr>
              <a:t>190+</a:t>
            </a:r>
          </a:p>
        </p:txBody>
      </p:sp>
      <p:sp>
        <p:nvSpPr>
          <p:cNvPr id="37" name="TextBox 36"/>
          <p:cNvSpPr txBox="1"/>
          <p:nvPr/>
        </p:nvSpPr>
        <p:spPr>
          <a:xfrm>
            <a:off x="6035040" y="4023360"/>
            <a:ext cx="2468880" cy="548640"/>
          </a:xfrm>
          <a:prstGeom prst="rect">
            <a:avLst/>
          </a:prstGeom>
          <a:noFill/>
        </p:spPr>
        <p:txBody>
          <a:bodyPr wrap="square" lIns="0" rIns="0" tIns="0" bIns="0" anchor="t">
            <a:spAutoFit/>
          </a:bodyPr>
          <a:lstStyle/>
          <a:p>
            <a:pPr algn="l"/>
            <a:r>
              <a:rPr sz="1200" b="0" i="0">
                <a:solidFill>
                  <a:srgbClr val="1B2336"/>
                </a:solidFill>
                <a:latin typeface="Calibri"/>
              </a:rPr>
              <a:t>automated tests, run on Linux and Windows for every pull request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20040"/>
            <a:ext cx="8046720" cy="731520"/>
          </a:xfrm>
          <a:prstGeom prst="rect">
            <a:avLst/>
          </a:prstGeom>
          <a:noFill/>
        </p:spPr>
        <p:txBody>
          <a:bodyPr wrap="square" lIns="0" rIns="0" tIns="0" bIns="0" anchor="ctr">
            <a:spAutoFit/>
          </a:bodyPr>
          <a:lstStyle/>
          <a:p>
            <a:pPr algn="l"/>
            <a:r>
              <a:rPr sz="3200" b="1" i="0">
                <a:solidFill>
                  <a:srgbClr val="0F2A6B"/>
                </a:solidFill>
                <a:latin typeface="Cambria"/>
              </a:rPr>
              <a:t>No evidence of a roll effect</a:t>
            </a:r>
          </a:p>
        </p:txBody>
      </p:sp>
      <p:graphicFrame>
        <p:nvGraphicFramePr>
          <p:cNvPr id="3" name="Mean absolute change"/>
          <p:cNvGraphicFramePr>
            <a:graphicFrameLocks noGrp="1"/>
          </p:cNvGraphicFramePr>
          <p:nvPr/>
        </p:nvGraphicFramePr>
        <p:xfrm>
          <a:off x="457200" y="1234440"/>
          <a:ext cx="4023360" cy="3200400"/>
        </p:xfrm>
        <a:graphic>
          <a:graphicData uri="http://schemas.openxmlformats.org/drawingml/2006/chart">
            <c:chart xmlns:c="http://schemas.openxmlformats.org/drawingml/2006/chart" r:id="rId2"/>
          </a:graphicData>
        </a:graphic>
      </p:graphicFrame>
      <p:sp>
        <p:nvSpPr>
          <p:cNvPr id="4" name="TextBox 3"/>
          <p:cNvSpPr txBox="1"/>
          <p:nvPr/>
        </p:nvSpPr>
        <p:spPr>
          <a:xfrm>
            <a:off x="4846320" y="1325880"/>
            <a:ext cx="3840480" cy="502920"/>
          </a:xfrm>
          <a:prstGeom prst="rect">
            <a:avLst/>
          </a:prstGeom>
          <a:noFill/>
        </p:spPr>
        <p:txBody>
          <a:bodyPr wrap="square" lIns="0" rIns="0" tIns="0" bIns="0" anchor="t">
            <a:spAutoFit/>
          </a:bodyPr>
          <a:lstStyle/>
          <a:p>
            <a:pPr algn="l"/>
            <a:r>
              <a:rPr sz="2600" b="1" i="0">
                <a:solidFill>
                  <a:srgbClr val="3B5BA9"/>
                </a:solidFill>
                <a:latin typeface="Cambria"/>
              </a:rPr>
              <a:t>+0.52 ticks</a:t>
            </a:r>
          </a:p>
        </p:txBody>
      </p:sp>
      <p:sp>
        <p:nvSpPr>
          <p:cNvPr id="5" name="TextBox 4"/>
          <p:cNvSpPr txBox="1"/>
          <p:nvPr/>
        </p:nvSpPr>
        <p:spPr>
          <a:xfrm>
            <a:off x="4846320" y="1828800"/>
            <a:ext cx="3840480" cy="365760"/>
          </a:xfrm>
          <a:prstGeom prst="rect">
            <a:avLst/>
          </a:prstGeom>
          <a:noFill/>
        </p:spPr>
        <p:txBody>
          <a:bodyPr wrap="square" lIns="0" rIns="0" tIns="0" bIns="0" anchor="t">
            <a:spAutoFit/>
          </a:bodyPr>
          <a:lstStyle/>
          <a:p>
            <a:pPr algn="l"/>
            <a:r>
              <a:rPr sz="1300" b="0" i="0">
                <a:solidFill>
                  <a:srgbClr val="1B2336"/>
                </a:solidFill>
                <a:latin typeface="Calibri"/>
              </a:rPr>
              <a:t>mean of d = |roll| minus |control|, per roll</a:t>
            </a:r>
          </a:p>
        </p:txBody>
      </p:sp>
      <p:sp>
        <p:nvSpPr>
          <p:cNvPr id="6" name="TextBox 5"/>
          <p:cNvSpPr txBox="1"/>
          <p:nvPr/>
        </p:nvSpPr>
        <p:spPr>
          <a:xfrm>
            <a:off x="4846320" y="2331720"/>
            <a:ext cx="3840480" cy="502920"/>
          </a:xfrm>
          <a:prstGeom prst="rect">
            <a:avLst/>
          </a:prstGeom>
          <a:noFill/>
        </p:spPr>
        <p:txBody>
          <a:bodyPr wrap="square" lIns="0" rIns="0" tIns="0" bIns="0" anchor="t">
            <a:spAutoFit/>
          </a:bodyPr>
          <a:lstStyle/>
          <a:p>
            <a:pPr algn="l"/>
            <a:r>
              <a:rPr sz="2600" b="1" i="0">
                <a:solidFill>
                  <a:srgbClr val="3B5BA9"/>
                </a:solidFill>
                <a:latin typeface="Cambria"/>
              </a:rPr>
              <a:t>−0.96 to +2.19</a:t>
            </a:r>
          </a:p>
        </p:txBody>
      </p:sp>
      <p:sp>
        <p:nvSpPr>
          <p:cNvPr id="7" name="TextBox 6"/>
          <p:cNvSpPr txBox="1"/>
          <p:nvPr/>
        </p:nvSpPr>
        <p:spPr>
          <a:xfrm>
            <a:off x="4846320" y="2834639"/>
            <a:ext cx="3840480" cy="365760"/>
          </a:xfrm>
          <a:prstGeom prst="rect">
            <a:avLst/>
          </a:prstGeom>
          <a:noFill/>
        </p:spPr>
        <p:txBody>
          <a:bodyPr wrap="square" lIns="0" rIns="0" tIns="0" bIns="0" anchor="t">
            <a:spAutoFit/>
          </a:bodyPr>
          <a:lstStyle/>
          <a:p>
            <a:pPr algn="l"/>
            <a:r>
              <a:rPr sz="1300" b="0" i="0">
                <a:solidFill>
                  <a:srgbClr val="1B2336"/>
                </a:solidFill>
                <a:latin typeface="Calibri"/>
              </a:rPr>
              <a:t>95% bootstrap interval, includes zero</a:t>
            </a:r>
          </a:p>
        </p:txBody>
      </p:sp>
      <p:sp>
        <p:nvSpPr>
          <p:cNvPr id="8" name="TextBox 7"/>
          <p:cNvSpPr txBox="1"/>
          <p:nvPr/>
        </p:nvSpPr>
        <p:spPr>
          <a:xfrm>
            <a:off x="4846320" y="3337560"/>
            <a:ext cx="3840480" cy="502920"/>
          </a:xfrm>
          <a:prstGeom prst="rect">
            <a:avLst/>
          </a:prstGeom>
          <a:noFill/>
        </p:spPr>
        <p:txBody>
          <a:bodyPr wrap="square" lIns="0" rIns="0" tIns="0" bIns="0" anchor="t">
            <a:spAutoFit/>
          </a:bodyPr>
          <a:lstStyle/>
          <a:p>
            <a:pPr algn="l"/>
            <a:r>
              <a:rPr sz="2600" b="1" i="0">
                <a:solidFill>
                  <a:srgbClr val="3B5BA9"/>
                </a:solidFill>
                <a:latin typeface="Cambria"/>
              </a:rPr>
              <a:t>p = 0.89 and 0.37</a:t>
            </a:r>
          </a:p>
        </p:txBody>
      </p:sp>
      <p:sp>
        <p:nvSpPr>
          <p:cNvPr id="9" name="TextBox 8"/>
          <p:cNvSpPr txBox="1"/>
          <p:nvPr/>
        </p:nvSpPr>
        <p:spPr>
          <a:xfrm>
            <a:off x="4846320" y="3840480"/>
            <a:ext cx="3840480" cy="365760"/>
          </a:xfrm>
          <a:prstGeom prst="rect">
            <a:avLst/>
          </a:prstGeom>
          <a:noFill/>
        </p:spPr>
        <p:txBody>
          <a:bodyPr wrap="square" lIns="0" rIns="0" tIns="0" bIns="0" anchor="t">
            <a:spAutoFit/>
          </a:bodyPr>
          <a:lstStyle/>
          <a:p>
            <a:pPr algn="l"/>
            <a:r>
              <a:rPr sz="1300" b="0" i="0">
                <a:solidFill>
                  <a:srgbClr val="1B2336"/>
                </a:solidFill>
                <a:latin typeface="Calibri"/>
              </a:rPr>
              <a:t>sign test and Wilcoxon test</a:t>
            </a:r>
          </a:p>
        </p:txBody>
      </p:sp>
      <p:sp>
        <p:nvSpPr>
          <p:cNvPr id="10" name="TextBox 9"/>
          <p:cNvSpPr txBox="1"/>
          <p:nvPr/>
        </p:nvSpPr>
        <p:spPr>
          <a:xfrm>
            <a:off x="548640" y="4526280"/>
            <a:ext cx="8046720" cy="411480"/>
          </a:xfrm>
          <a:prstGeom prst="rect">
            <a:avLst/>
          </a:prstGeom>
          <a:noFill/>
        </p:spPr>
        <p:txBody>
          <a:bodyPr wrap="square" lIns="0" rIns="0" tIns="0" bIns="0" anchor="t">
            <a:spAutoFit/>
          </a:bodyPr>
          <a:lstStyle/>
          <a:p>
            <a:pPr algn="l"/>
            <a:r>
              <a:rPr sz="1100" b="0" i="1">
                <a:solidFill>
                  <a:srgbClr val="7A869E"/>
                </a:solidFill>
                <a:latin typeface="Calibri"/>
              </a:rPr>
              <a:t>Planned sensitivity checks agree (narrow quotes, no Fed or ECB weeks, carry-adjusted). One added check, a 3-week control, is borderline. H3 not computed.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20040"/>
            <a:ext cx="8046720" cy="731520"/>
          </a:xfrm>
          <a:prstGeom prst="rect">
            <a:avLst/>
          </a:prstGeom>
          <a:noFill/>
        </p:spPr>
        <p:txBody>
          <a:bodyPr wrap="square" lIns="0" rIns="0" tIns="0" bIns="0" anchor="ctr">
            <a:spAutoFit/>
          </a:bodyPr>
          <a:lstStyle/>
          <a:p>
            <a:pPr algn="l"/>
            <a:r>
              <a:rPr sz="3200" b="1" i="0">
                <a:solidFill>
                  <a:srgbClr val="0F2A6B"/>
                </a:solidFill>
                <a:latin typeface="Cambria"/>
              </a:rPr>
              <a:t>What we can and can't conclude</a:t>
            </a:r>
          </a:p>
        </p:txBody>
      </p:sp>
      <p:sp>
        <p:nvSpPr>
          <p:cNvPr id="3" name="Can say card"/>
          <p:cNvSpPr/>
          <p:nvPr/>
        </p:nvSpPr>
        <p:spPr>
          <a:xfrm>
            <a:off x="548640" y="1325880"/>
            <a:ext cx="3840480" cy="3154680"/>
          </a:xfrm>
          <a:prstGeom prst="roundRect">
            <a:avLst>
              <a:gd name="adj" fmla="val 4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63040"/>
            <a:ext cx="3383280" cy="411480"/>
          </a:xfrm>
          <a:prstGeom prst="rect">
            <a:avLst/>
          </a:prstGeom>
          <a:noFill/>
        </p:spPr>
        <p:txBody>
          <a:bodyPr wrap="square" lIns="0" rIns="0" tIns="0" bIns="0" anchor="t">
            <a:spAutoFit/>
          </a:bodyPr>
          <a:lstStyle/>
          <a:p>
            <a:pPr algn="l"/>
            <a:r>
              <a:rPr sz="2000" b="1" i="0">
                <a:solidFill>
                  <a:srgbClr val="0F2A6B"/>
                </a:solidFill>
                <a:latin typeface="Cambria"/>
              </a:rPr>
              <a:t>What we can say</a:t>
            </a:r>
          </a:p>
        </p:txBody>
      </p:sp>
      <p:sp>
        <p:nvSpPr>
          <p:cNvPr id="5" name="TextBox 4"/>
          <p:cNvSpPr txBox="1"/>
          <p:nvPr/>
        </p:nvSpPr>
        <p:spPr>
          <a:xfrm>
            <a:off x="777240" y="1965960"/>
            <a:ext cx="3383280" cy="2377440"/>
          </a:xfrm>
          <a:prstGeom prst="rect">
            <a:avLst/>
          </a:prstGeom>
          <a:noFill/>
        </p:spPr>
        <p:txBody>
          <a:bodyPr wrap="square" lIns="0" rIns="0" tIns="0" bIns="0" anchor="t">
            <a:spAutoFit/>
          </a:bodyPr>
          <a:lstStyle/>
          <a:p>
            <a:pPr algn="l" marL="201168" indent="-201168">
              <a:spcAft>
                <a:spcPts val="800"/>
              </a:spcAft>
              <a:buChar char="•"/>
            </a:pPr>
            <a:r>
              <a:rPr sz="1400" b="0" i="0">
                <a:solidFill>
                  <a:srgbClr val="1B2336"/>
                </a:solidFill>
                <a:latin typeface="Calibri"/>
              </a:rPr>
              <a:t>No detectable roll-week effect in 57 held-out rolls, and the planned sensitivity checks agree</a:t>
            </a:r>
          </a:p>
          <a:p>
            <a:pPr algn="l" marL="201168" indent="-201168">
              <a:spcAft>
                <a:spcPts val="800"/>
              </a:spcAft>
              <a:buChar char="•"/>
            </a:pPr>
            <a:r>
              <a:rPr sz="1400" b="0" i="0">
                <a:solidFill>
                  <a:srgbClr val="1B2336"/>
                </a:solidFill>
                <a:latin typeface="Calibri"/>
              </a:rPr>
              <a:t>Listed-spread volume does concentrate in the roll week</a:t>
            </a:r>
          </a:p>
          <a:p>
            <a:pPr algn="l" marL="201168" indent="-201168">
              <a:spcAft>
                <a:spcPts val="800"/>
              </a:spcAft>
              <a:buChar char="•"/>
            </a:pPr>
            <a:r>
              <a:rPr sz="1400" b="0" i="0">
                <a:solidFill>
                  <a:srgbClr val="1B2336"/>
                </a:solidFill>
                <a:latin typeface="Calibri"/>
              </a:rPr>
              <a:t>The plan was written before the test, and every later change is logged</a:t>
            </a:r>
          </a:p>
        </p:txBody>
      </p:sp>
      <p:sp>
        <p:nvSpPr>
          <p:cNvPr id="6" name="Cannot say card"/>
          <p:cNvSpPr/>
          <p:nvPr/>
        </p:nvSpPr>
        <p:spPr>
          <a:xfrm>
            <a:off x="4754880" y="1325880"/>
            <a:ext cx="3840480" cy="3154680"/>
          </a:xfrm>
          <a:prstGeom prst="roundRect">
            <a:avLst>
              <a:gd name="adj" fmla="val 4000"/>
            </a:avLst>
          </a:prstGeom>
          <a:solidFill>
            <a:srgbClr val="FFFFFF"/>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83480" y="1463040"/>
            <a:ext cx="3383280" cy="411480"/>
          </a:xfrm>
          <a:prstGeom prst="rect">
            <a:avLst/>
          </a:prstGeom>
          <a:noFill/>
        </p:spPr>
        <p:txBody>
          <a:bodyPr wrap="square" lIns="0" rIns="0" tIns="0" bIns="0" anchor="t">
            <a:spAutoFit/>
          </a:bodyPr>
          <a:lstStyle/>
          <a:p>
            <a:pPr algn="l"/>
            <a:r>
              <a:rPr sz="2000" b="1" i="0">
                <a:solidFill>
                  <a:srgbClr val="0F2A6B"/>
                </a:solidFill>
                <a:latin typeface="Cambria"/>
              </a:rPr>
              <a:t>What we can't say</a:t>
            </a:r>
          </a:p>
        </p:txBody>
      </p:sp>
      <p:sp>
        <p:nvSpPr>
          <p:cNvPr id="8" name="TextBox 7"/>
          <p:cNvSpPr txBox="1"/>
          <p:nvPr/>
        </p:nvSpPr>
        <p:spPr>
          <a:xfrm>
            <a:off x="4983480" y="1965960"/>
            <a:ext cx="3383280" cy="2377440"/>
          </a:xfrm>
          <a:prstGeom prst="rect">
            <a:avLst/>
          </a:prstGeom>
          <a:noFill/>
        </p:spPr>
        <p:txBody>
          <a:bodyPr wrap="square" lIns="0" rIns="0" tIns="0" bIns="0" anchor="t">
            <a:spAutoFit/>
          </a:bodyPr>
          <a:lstStyle/>
          <a:p>
            <a:pPr algn="l" marL="201168" indent="-201168">
              <a:spcAft>
                <a:spcPts val="800"/>
              </a:spcAft>
              <a:buChar char="•"/>
            </a:pPr>
            <a:r>
              <a:rPr sz="1400" b="0" i="0">
                <a:solidFill>
                  <a:srgbClr val="1B2336"/>
                </a:solidFill>
                <a:latin typeface="Calibri"/>
              </a:rPr>
              <a:t>That there is no effect: noisy control quotes bias the test toward none, and a move 1.5 times the control's is caught only 29 to 43% of the time</a:t>
            </a:r>
          </a:p>
          <a:p>
            <a:pPr algn="l" marL="201168" indent="-201168">
              <a:spcAft>
                <a:spcPts val="800"/>
              </a:spcAft>
              <a:buChar char="•"/>
            </a:pPr>
            <a:r>
              <a:rPr sz="1400" b="0" i="0">
                <a:solidFill>
                  <a:srgbClr val="1B2336"/>
                </a:solidFill>
                <a:latin typeface="Calibri"/>
              </a:rPr>
              <a:t>Who pays, or that rolling caused any move</a:t>
            </a:r>
          </a:p>
          <a:p>
            <a:pPr algn="l" marL="201168" indent="-201168">
              <a:spcAft>
                <a:spcPts val="800"/>
              </a:spcAft>
              <a:buChar char="•"/>
            </a:pPr>
            <a:r>
              <a:rPr sz="1400" b="0" i="0">
                <a:solidFill>
                  <a:srgbClr val="1B2336"/>
                </a:solidFill>
                <a:latin typeface="Calibri"/>
              </a:rPr>
              <a:t>That the plan was fully frozen: the test ran before the last sign-off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Euro FX futures roll pressure</dc:title>
  <dc:subject/>
  <dc:creator>FINM 37000 Project Group 1</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