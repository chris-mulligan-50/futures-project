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1B2336"/>
                </a:solidFill>
                <a:latin typeface="Calibri"/>
              </a:rPr>
              <a:t>Listed-spread volume by week, median of 8 recent rolls (%)</a:t>
            </a:r>
          </a:p>
        </c:rich>
      </c:tx>
      <c:layout/>
      <c:overlay val="0"/>
    </c:title>
    <c:autoTitleDeleted val="0"/>
    <c:plotArea>
      <c:barChart>
        <c:barDir val="bar"/>
        <c:grouping val="clustered"/>
        <c:ser>
          <c:idx val="0"/>
          <c:order val="0"/>
          <c:tx>
            <c:strRef>
              <c:f>Sheet1!$B$1</c:f>
              <c:strCache>
                <c:ptCount val="1"/>
                <c:pt idx="0">
                  <c:v>Share of listed-spread volume (%)</c:v>
                </c:pt>
              </c:strCache>
            </c:strRef>
          </c:tx>
          <c:dPt>
            <c:idx val="0"/>
            <c:spPr>
              <a:solidFill>
                <a:srgbClr val="9AA7C7"/>
              </a:solidFill>
            </c:spPr>
          </c:dPt>
          <c:dPt>
            <c:idx val="1"/>
            <c:spPr>
              <a:solidFill>
                <a:srgbClr val="3B5BA9"/>
              </a:solidFill>
            </c:spPr>
          </c:dPt>
          <c:dPt>
            <c:idx val="2"/>
            <c:spPr>
              <a:solidFill>
                <a:srgbClr val="E3A71B"/>
              </a:solidFill>
            </c:spPr>
          </c:dPt>
          <c:cat>
            <c:strRef>
              <c:f>Sheet1!$A$2:$A$4</c:f>
              <c:strCache>
                <c:ptCount val="3"/>
                <c:pt idx="0">
                  <c:v>Week before the roll week</c:v>
                </c:pt>
                <c:pt idx="1">
                  <c:v>Roll week</c:v>
                </c:pt>
                <c:pt idx="2">
                  <c:v>Control week</c:v>
                </c:pt>
              </c:strCache>
            </c:strRef>
          </c:cat>
          <c:val>
            <c:numRef>
              <c:f>Sheet1!$B$2:$B$4</c:f>
              <c:numCache>
                <c:formatCode>General</c:formatCode>
                <c:ptCount val="3"/>
                <c:pt idx="0">
                  <c:v>12</c:v>
                </c:pt>
                <c:pt idx="1">
                  <c:v>83</c:v>
                </c:pt>
                <c:pt idx="2">
                  <c:v>1</c:v>
                </c:pt>
              </c:numCache>
            </c:numRef>
          </c:val>
        </c:ser>
        <c:dLbls>
          <c:numFmt formatCode="0" sourceLinked="0"/>
          <c:txPr>
            <a:bodyPr/>
            <a:lstStyle/>
            <a:p>
              <a:pPr>
                <a:defRPr sz="1200">
                  <a:solidFill>
                    <a:srgbClr val="1B2336"/>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9AA7C7"/>
            </a:solidFill>
          </a:ln>
        </c:spPr>
        <c:txPr>
          <a:bodyPr/>
          <a:lstStyle/>
          <a:p>
            <a:pPr>
              <a:defRPr sz="1200">
                <a:solidFill>
                  <a:srgbClr val="1B2336"/>
                </a:solidFill>
                <a:latin typeface="Calibri"/>
              </a:defRPr>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Euro FX futures (6E) expire every March, June, September and December. Anyone holding a position, like a fund hedging euro exposure, has to roll: close the expiring contract and open the next one. That volume lands in the same few days each quarter, so other traders can anticipate it. We test whether the price of switching, the calendar spread, moves more in roll weeks than in normal weeks.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spread is the deferred contract's price minus the front contract's, measured in ticks at 10:00 Chicago time. The roll window is the last full Monday to Friday week before the front contract expires. The control window is the same pattern four weeks earlier for the same pair. For each roll we compare the absolute net move in the roll week with the absolute net move in the control week. The recent eight rolls are where the idea came from, so they cannot also be the test; the main test uses the 57 earlier rolls. The plan was written and signed off by all four of us before the main test is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a Python package with tests, built through pull requests that every member reviews. The data step downloads named contracts from Databento and caches them locally. The roll calendar uses the formula 'two business days before the third Wednesday' and we checked it against Databento's own definitions: 64 of 65 match. The one miss, 6EM3 in June 2023, expired a business day early because of Juneteenth, a CME holiday; that fix is in review. Statuses are as of late October.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descriptive checks on the eight recent rolls, using volume and quote quality only; we have not looked at spread changes in the main sample. First, the listed calendar spread trades almost entirely in the roll week, which supports our window rule. Second, outright volume only crosses over on the Friday, about two days after spread trading peaks on Wednesday, so outright volume alone understates when rolling happens. Third, a liquidity check across all 65 rolls found the control week is usable but noisier: the deferred contract trades about 1 to 2 percent of its roll-week volume and its quotes are roughly twice as wide.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fixed the analysis before running the main test, and every member signed off. That includes the statistics, the two bootstrap versions, and how we handle holidays and wide quotes. Be upfront about two limits. First, the control-week deferred contract is thinly quoted, which makes control moves look bigger and biases the magnitude test toward finding nothing, so a null result is weak evidence. Second, calendar spreads mostly reflect the interest-rate gap, so we compare with observed rates, and we cannot say who pays or that rolling caused a move. Remaining work: build the per-roll results table, run the main test on the 57 held-out rolls, robustness checks and the final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6B"/>
        </a:solidFill>
        <a:effectLst/>
      </p:bgPr>
    </p:bg>
    <p:spTree>
      <p:nvGrpSpPr>
        <p:cNvPr id="1" name=""/>
        <p:cNvGrpSpPr/>
        <p:nvPr/>
      </p:nvGrpSpPr>
      <p:grpSpPr/>
      <p:sp>
        <p:nvSpPr>
          <p:cNvPr id="2" name="Title"/>
          <p:cNvSpPr txBox="1"/>
          <p:nvPr/>
        </p:nvSpPr>
        <p:spPr>
          <a:xfrm>
            <a:off x="548640" y="822960"/>
            <a:ext cx="4937760" cy="1371600"/>
          </a:xfrm>
          <a:prstGeom prst="rect">
            <a:avLst/>
          </a:prstGeom>
          <a:noFill/>
        </p:spPr>
        <p:txBody>
          <a:bodyPr wrap="square" lIns="0" rIns="0" tIns="0" bIns="0" anchor="t">
            <a:spAutoFit/>
          </a:bodyPr>
          <a:lstStyle/>
          <a:p>
            <a:pPr algn="l"/>
            <a:r>
              <a:rPr sz="4000" b="1" i="0">
                <a:solidFill>
                  <a:srgbClr val="FFFFFF"/>
                </a:solidFill>
                <a:latin typeface="Cambria"/>
              </a:rPr>
              <a:t>Euro FX futures roll pressure</a:t>
            </a:r>
          </a:p>
        </p:txBody>
      </p:sp>
      <p:sp>
        <p:nvSpPr>
          <p:cNvPr id="3" name="Subtitle"/>
          <p:cNvSpPr txBox="1"/>
          <p:nvPr/>
        </p:nvSpPr>
        <p:spPr>
          <a:xfrm>
            <a:off x="548640" y="2331720"/>
            <a:ext cx="4754880" cy="914400"/>
          </a:xfrm>
          <a:prstGeom prst="rect">
            <a:avLst/>
          </a:prstGeom>
          <a:noFill/>
        </p:spPr>
        <p:txBody>
          <a:bodyPr wrap="square" lIns="0" rIns="0" tIns="0" bIns="0" anchor="t">
            <a:spAutoFit/>
          </a:bodyPr>
          <a:lstStyle/>
          <a:p>
            <a:pPr algn="l"/>
            <a:r>
              <a:rPr sz="1800" b="0" i="0">
                <a:solidFill>
                  <a:srgbClr val="9AA7C7"/>
                </a:solidFill>
                <a:latin typeface="Calibri"/>
              </a:rPr>
              <a:t>Do calendar spreads move more during quarterly roll weeks than in comparable non-roll weeks?</a:t>
            </a:r>
          </a:p>
        </p:txBody>
      </p:sp>
      <p:sp>
        <p:nvSpPr>
          <p:cNvPr id="4" name="Team"/>
          <p:cNvSpPr txBox="1"/>
          <p:nvPr/>
        </p:nvSpPr>
        <p:spPr>
          <a:xfrm>
            <a:off x="548640" y="3931920"/>
            <a:ext cx="5120640" cy="640080"/>
          </a:xfrm>
          <a:prstGeom prst="rect">
            <a:avLst/>
          </a:prstGeom>
          <a:noFill/>
        </p:spPr>
        <p:txBody>
          <a:bodyPr wrap="square" lIns="0" rIns="0" tIns="0" bIns="0" anchor="t">
            <a:spAutoFit/>
          </a:bodyPr>
          <a:lstStyle/>
          <a:p>
            <a:pPr algn="l"/>
            <a:r>
              <a:rPr sz="1200" b="0" i="0">
                <a:solidFill>
                  <a:srgbClr val="EDF0F8"/>
                </a:solidFill>
                <a:latin typeface="Calibri"/>
              </a:rPr>
              <a:t>FINM 37000  |  Futures and Related Derivatives</a:t>
            </a:r>
          </a:p>
          <a:p>
            <a:pPr algn="l"/>
            <a:r>
              <a:rPr sz="1200" b="0" i="0">
                <a:solidFill>
                  <a:srgbClr val="EDF0F8"/>
                </a:solidFill>
                <a:latin typeface="Calibri"/>
              </a:rPr>
              <a:t>Chris Mulligan, Sidharth Saha, Shreya Enaganti, Gonzalo Romero</a:t>
            </a:r>
          </a:p>
        </p:txBody>
      </p:sp>
      <p:sp>
        <p:nvSpPr>
          <p:cNvPr id="5" name="Front contract"/>
          <p:cNvSpPr/>
          <p:nvPr/>
        </p:nvSpPr>
        <p:spPr>
          <a:xfrm>
            <a:off x="5943600" y="822960"/>
            <a:ext cx="2651760" cy="914400"/>
          </a:xfrm>
          <a:prstGeom prst="roundRect">
            <a:avLst>
              <a:gd name="adj" fmla="val 12000"/>
            </a:avLst>
          </a:prstGeom>
          <a:solidFill>
            <a:srgbClr val="7A86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0" y="822960"/>
            <a:ext cx="2651760" cy="914400"/>
          </a:xfrm>
          <a:prstGeom prst="rect">
            <a:avLst/>
          </a:prstGeom>
          <a:noFill/>
        </p:spPr>
        <p:txBody>
          <a:bodyPr wrap="square" lIns="0" rIns="0" tIns="0" bIns="0" anchor="ctr">
            <a:spAutoFit/>
          </a:bodyPr>
          <a:lstStyle/>
          <a:p>
            <a:pPr algn="ctr"/>
            <a:r>
              <a:rPr sz="1200" b="0" i="0">
                <a:solidFill>
                  <a:srgbClr val="FFFFFF"/>
                </a:solidFill>
                <a:latin typeface="Calibri"/>
              </a:rPr>
              <a:t>Front contract</a:t>
            </a:r>
          </a:p>
          <a:p>
            <a:pPr algn="ctr"/>
            <a:r>
              <a:rPr sz="1800" b="1" i="0">
                <a:solidFill>
                  <a:srgbClr val="FFFFFF"/>
                </a:solidFill>
                <a:latin typeface="Calibri"/>
              </a:rPr>
              <a:t>6EU6, expiring</a:t>
            </a:r>
          </a:p>
        </p:txBody>
      </p:sp>
      <p:sp>
        <p:nvSpPr>
          <p:cNvPr id="7" name="Roll arrow"/>
          <p:cNvSpPr/>
          <p:nvPr/>
        </p:nvSpPr>
        <p:spPr>
          <a:xfrm>
            <a:off x="6995160" y="1874519"/>
            <a:ext cx="548640" cy="685800"/>
          </a:xfrm>
          <a:prstGeom prst="downArrow">
            <a:avLst/>
          </a:prstGeom>
          <a:solidFill>
            <a:srgbClr val="E3A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057400"/>
            <a:ext cx="914400" cy="320040"/>
          </a:xfrm>
          <a:prstGeom prst="rect">
            <a:avLst/>
          </a:prstGeom>
          <a:noFill/>
        </p:spPr>
        <p:txBody>
          <a:bodyPr wrap="square" lIns="0" rIns="0" tIns="0" bIns="0" anchor="t">
            <a:spAutoFit/>
          </a:bodyPr>
          <a:lstStyle/>
          <a:p>
            <a:pPr algn="l"/>
            <a:r>
              <a:rPr sz="1400" b="1" i="0">
                <a:solidFill>
                  <a:srgbClr val="E3A71B"/>
                </a:solidFill>
                <a:latin typeface="Calibri"/>
              </a:rPr>
              <a:t>roll</a:t>
            </a:r>
          </a:p>
        </p:txBody>
      </p:sp>
      <p:sp>
        <p:nvSpPr>
          <p:cNvPr id="9" name="Deferred contract"/>
          <p:cNvSpPr/>
          <p:nvPr/>
        </p:nvSpPr>
        <p:spPr>
          <a:xfrm>
            <a:off x="5943600" y="2697480"/>
            <a:ext cx="2651760" cy="914400"/>
          </a:xfrm>
          <a:prstGeom prst="roundRect">
            <a:avLst>
              <a:gd name="adj" fmla="val 12000"/>
            </a:avLst>
          </a:prstGeom>
          <a:solidFill>
            <a:srgbClr val="3B5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2697480"/>
            <a:ext cx="2651760" cy="914400"/>
          </a:xfrm>
          <a:prstGeom prst="rect">
            <a:avLst/>
          </a:prstGeom>
          <a:noFill/>
        </p:spPr>
        <p:txBody>
          <a:bodyPr wrap="square" lIns="0" rIns="0" tIns="0" bIns="0" anchor="ctr">
            <a:spAutoFit/>
          </a:bodyPr>
          <a:lstStyle/>
          <a:p>
            <a:pPr algn="ctr"/>
            <a:r>
              <a:rPr sz="1200" b="0" i="0">
                <a:solidFill>
                  <a:srgbClr val="FFFFFF"/>
                </a:solidFill>
                <a:latin typeface="Calibri"/>
              </a:rPr>
              <a:t>Deferred contract</a:t>
            </a:r>
          </a:p>
          <a:p>
            <a:pPr algn="ctr"/>
            <a:r>
              <a:rPr sz="1800" b="1" i="0">
                <a:solidFill>
                  <a:srgbClr val="FFFFFF"/>
                </a:solidFill>
                <a:latin typeface="Calibri"/>
              </a:rPr>
              <a:t>6EZ6, next quarter</a:t>
            </a:r>
          </a:p>
        </p:txBody>
      </p:sp>
      <p:sp>
        <p:nvSpPr>
          <p:cNvPr id="11" name="TextBox 10"/>
          <p:cNvSpPr txBox="1"/>
          <p:nvPr/>
        </p:nvSpPr>
        <p:spPr>
          <a:xfrm>
            <a:off x="5943600" y="3840480"/>
            <a:ext cx="2651760" cy="640080"/>
          </a:xfrm>
          <a:prstGeom prst="rect">
            <a:avLst/>
          </a:prstGeom>
          <a:noFill/>
        </p:spPr>
        <p:txBody>
          <a:bodyPr wrap="square" lIns="0" rIns="0" tIns="0" bIns="0" anchor="t">
            <a:spAutoFit/>
          </a:bodyPr>
          <a:lstStyle/>
          <a:p>
            <a:pPr algn="l"/>
            <a:r>
              <a:rPr sz="1200" b="0" i="0">
                <a:solidFill>
                  <a:srgbClr val="EDF0F8"/>
                </a:solidFill>
                <a:latin typeface="Calibri"/>
              </a:rPr>
              <a:t>Spread = deferred minus front. One tick = USD 6.25 per contract.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8046720" cy="731520"/>
          </a:xfrm>
          <a:prstGeom prst="rect">
            <a:avLst/>
          </a:prstGeom>
          <a:noFill/>
        </p:spPr>
        <p:txBody>
          <a:bodyPr wrap="square" lIns="0" rIns="0" tIns="0" bIns="0" anchor="ctr">
            <a:spAutoFit/>
          </a:bodyPr>
          <a:lstStyle/>
          <a:p>
            <a:pPr algn="l"/>
            <a:r>
              <a:rPr sz="3200" b="1" i="0">
                <a:solidFill>
                  <a:srgbClr val="0F2A6B"/>
                </a:solidFill>
                <a:latin typeface="Cambria"/>
              </a:rPr>
              <a:t>How we test it</a:t>
            </a:r>
          </a:p>
        </p:txBody>
      </p:sp>
      <p:sp>
        <p:nvSpPr>
          <p:cNvPr id="3" name="Method bullets"/>
          <p:cNvSpPr txBox="1"/>
          <p:nvPr/>
        </p:nvSpPr>
        <p:spPr>
          <a:xfrm>
            <a:off x="548640" y="1325880"/>
            <a:ext cx="3840480" cy="3017520"/>
          </a:xfrm>
          <a:prstGeom prst="rect">
            <a:avLst/>
          </a:prstGeom>
          <a:noFill/>
        </p:spPr>
        <p:txBody>
          <a:bodyPr wrap="square" lIns="0" rIns="0" tIns="0" bIns="0" anchor="t">
            <a:spAutoFit/>
          </a:bodyPr>
          <a:lstStyle/>
          <a:p>
            <a:pPr algn="l" marL="201168" indent="-201168">
              <a:spcAft>
                <a:spcPts val="1000"/>
              </a:spcAft>
              <a:buChar char="•"/>
            </a:pPr>
            <a:r>
              <a:rPr sz="1500" b="1" i="0">
                <a:solidFill>
                  <a:srgbClr val="0F2A6B"/>
                </a:solidFill>
                <a:latin typeface="Calibri"/>
              </a:rPr>
              <a:t>Spread, in ticks.</a:t>
            </a:r>
            <a:r>
              <a:rPr sz="1500" b="0" i="0">
                <a:solidFill>
                  <a:srgbClr val="1B2336"/>
                </a:solidFill>
                <a:latin typeface="Calibri"/>
              </a:rPr>
              <a:t> Deferred midpoint minus front midpoint at 10:00 Chicago each weekday.</a:t>
            </a:r>
          </a:p>
          <a:p>
            <a:pPr algn="l" marL="201168" indent="-201168">
              <a:spcAft>
                <a:spcPts val="1000"/>
              </a:spcAft>
              <a:buChar char="•"/>
            </a:pPr>
            <a:r>
              <a:rPr sz="1500" b="1" i="0">
                <a:solidFill>
                  <a:srgbClr val="0F2A6B"/>
                </a:solidFill>
                <a:latin typeface="Calibri"/>
              </a:rPr>
              <a:t>Paired by roll.</a:t>
            </a:r>
            <a:r>
              <a:rPr sz="1500" b="0" i="0">
                <a:solidFill>
                  <a:srgbClr val="1B2336"/>
                </a:solidFill>
                <a:latin typeface="Calibri"/>
              </a:rPr>
              <a:t> Each roll week is compared with a control week four weeks earlier, same contract pair.</a:t>
            </a:r>
          </a:p>
          <a:p>
            <a:pPr algn="l" marL="201168" indent="-201168">
              <a:spcAft>
                <a:spcPts val="1000"/>
              </a:spcAft>
              <a:buChar char="•"/>
            </a:pPr>
            <a:r>
              <a:rPr sz="1500" b="1" i="0">
                <a:solidFill>
                  <a:srgbClr val="0F2A6B"/>
                </a:solidFill>
                <a:latin typeface="Calibri"/>
              </a:rPr>
              <a:t>Test statistic.</a:t>
            </a:r>
            <a:r>
              <a:rPr sz="1500" b="0" i="0">
                <a:solidFill>
                  <a:srgbClr val="1B2336"/>
                </a:solidFill>
                <a:latin typeface="Calibri"/>
              </a:rPr>
              <a:t> d = |net roll-week move| minus |net control-week move|, one number per roll.</a:t>
            </a:r>
          </a:p>
          <a:p>
            <a:pPr algn="l" marL="201168" indent="-201168">
              <a:spcAft>
                <a:spcPts val="1000"/>
              </a:spcAft>
              <a:buChar char="•"/>
            </a:pPr>
            <a:r>
              <a:rPr sz="1500" b="1" i="0">
                <a:solidFill>
                  <a:srgbClr val="0F2A6B"/>
                </a:solidFill>
                <a:latin typeface="Calibri"/>
              </a:rPr>
              <a:t>Held out.</a:t>
            </a:r>
            <a:r>
              <a:rPr sz="1500" b="0" i="0">
                <a:solidFill>
                  <a:srgbClr val="1B2336"/>
                </a:solidFill>
                <a:latin typeface="Calibri"/>
              </a:rPr>
              <a:t> 57 rolls from 2010 to 2024 for the test. The 8 recent rolls are exploratory only.</a:t>
            </a:r>
          </a:p>
        </p:txBody>
      </p:sp>
      <p:sp>
        <p:nvSpPr>
          <p:cNvPr id="4" name="TextBox 3"/>
          <p:cNvSpPr txBox="1"/>
          <p:nvPr/>
        </p:nvSpPr>
        <p:spPr>
          <a:xfrm>
            <a:off x="4709160" y="1783080"/>
            <a:ext cx="3931920" cy="320040"/>
          </a:xfrm>
          <a:prstGeom prst="rect">
            <a:avLst/>
          </a:prstGeom>
          <a:noFill/>
        </p:spPr>
        <p:txBody>
          <a:bodyPr wrap="square" lIns="0" rIns="0" tIns="0" bIns="0" anchor="t">
            <a:spAutoFit/>
          </a:bodyPr>
          <a:lstStyle/>
          <a:p>
            <a:pPr algn="l"/>
            <a:r>
              <a:rPr sz="1200" b="0" i="0">
                <a:solidFill>
                  <a:srgbClr val="7A869E"/>
                </a:solidFill>
                <a:latin typeface="Calibri"/>
              </a:rPr>
              <a:t>Weeks before expiry</a:t>
            </a:r>
          </a:p>
        </p:txBody>
      </p:sp>
      <p:sp>
        <p:nvSpPr>
          <p:cNvPr id="5" name="Week 1"/>
          <p:cNvSpPr/>
          <p:nvPr/>
        </p:nvSpPr>
        <p:spPr>
          <a:xfrm>
            <a:off x="4709160" y="2377440"/>
            <a:ext cx="713232" cy="822960"/>
          </a:xfrm>
          <a:prstGeom prst="roundRect">
            <a:avLst>
              <a:gd name="adj" fmla="val 10000"/>
            </a:avLst>
          </a:prstGeom>
          <a:solidFill>
            <a:srgbClr val="E3A71B"/>
          </a:solidFill>
          <a:ln w="9525">
            <a:solidFill>
              <a:srgbClr val="E3A7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36592" y="2377440"/>
            <a:ext cx="658368" cy="822960"/>
          </a:xfrm>
          <a:prstGeom prst="rect">
            <a:avLst/>
          </a:prstGeom>
          <a:noFill/>
        </p:spPr>
        <p:txBody>
          <a:bodyPr wrap="square" lIns="0" rIns="0" tIns="0" bIns="0" anchor="ctr">
            <a:spAutoFit/>
          </a:bodyPr>
          <a:lstStyle/>
          <a:p>
            <a:pPr algn="ctr"/>
            <a:r>
              <a:rPr sz="1200" b="1" i="0">
                <a:solidFill>
                  <a:srgbClr val="1B2336"/>
                </a:solidFill>
                <a:latin typeface="Calibri"/>
              </a:rPr>
              <a:t>Control week</a:t>
            </a:r>
          </a:p>
        </p:txBody>
      </p:sp>
      <p:sp>
        <p:nvSpPr>
          <p:cNvPr id="7" name="Week 2"/>
          <p:cNvSpPr/>
          <p:nvPr/>
        </p:nvSpPr>
        <p:spPr>
          <a:xfrm>
            <a:off x="5495544" y="2377440"/>
            <a:ext cx="713232" cy="822960"/>
          </a:xfrm>
          <a:prstGeom prst="roundRect">
            <a:avLst>
              <a:gd name="adj" fmla="val 10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eek 3"/>
          <p:cNvSpPr/>
          <p:nvPr/>
        </p:nvSpPr>
        <p:spPr>
          <a:xfrm>
            <a:off x="6281928" y="2377440"/>
            <a:ext cx="713232" cy="822960"/>
          </a:xfrm>
          <a:prstGeom prst="roundRect">
            <a:avLst>
              <a:gd name="adj" fmla="val 10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eek 4"/>
          <p:cNvSpPr/>
          <p:nvPr/>
        </p:nvSpPr>
        <p:spPr>
          <a:xfrm>
            <a:off x="7068312" y="2377440"/>
            <a:ext cx="713232" cy="822960"/>
          </a:xfrm>
          <a:prstGeom prst="roundRect">
            <a:avLst>
              <a:gd name="adj" fmla="val 10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eek 5"/>
          <p:cNvSpPr/>
          <p:nvPr/>
        </p:nvSpPr>
        <p:spPr>
          <a:xfrm>
            <a:off x="7854696" y="2377440"/>
            <a:ext cx="713232" cy="822960"/>
          </a:xfrm>
          <a:prstGeom prst="roundRect">
            <a:avLst>
              <a:gd name="adj" fmla="val 10000"/>
            </a:avLst>
          </a:prstGeom>
          <a:solidFill>
            <a:srgbClr val="3B5BA9"/>
          </a:solidFill>
          <a:ln w="9525">
            <a:solidFill>
              <a:srgbClr val="3B5B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82127" y="2377440"/>
            <a:ext cx="658368" cy="822960"/>
          </a:xfrm>
          <a:prstGeom prst="rect">
            <a:avLst/>
          </a:prstGeom>
          <a:noFill/>
        </p:spPr>
        <p:txBody>
          <a:bodyPr wrap="square" lIns="0" rIns="0" tIns="0" bIns="0" anchor="ctr">
            <a:spAutoFit/>
          </a:bodyPr>
          <a:lstStyle/>
          <a:p>
            <a:pPr algn="ctr"/>
            <a:r>
              <a:rPr sz="1200" b="1" i="0">
                <a:solidFill>
                  <a:srgbClr val="FFFFFF"/>
                </a:solidFill>
                <a:latin typeface="Calibri"/>
              </a:rPr>
              <a:t>Roll week</a:t>
            </a:r>
          </a:p>
        </p:txBody>
      </p:sp>
      <p:sp>
        <p:nvSpPr>
          <p:cNvPr id="12" name="Expiry flag"/>
          <p:cNvSpPr/>
          <p:nvPr/>
        </p:nvSpPr>
        <p:spPr>
          <a:xfrm>
            <a:off x="8659367" y="2331720"/>
            <a:ext cx="228600" cy="365760"/>
          </a:xfrm>
          <a:prstGeom prst="triangl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59" y="2834640"/>
            <a:ext cx="822960" cy="274320"/>
          </a:xfrm>
          <a:prstGeom prst="rect">
            <a:avLst/>
          </a:prstGeom>
          <a:noFill/>
        </p:spPr>
        <p:txBody>
          <a:bodyPr wrap="square" lIns="0" rIns="0" tIns="0" bIns="0" anchor="t">
            <a:spAutoFit/>
          </a:bodyPr>
          <a:lstStyle/>
          <a:p>
            <a:pPr algn="ctr"/>
            <a:r>
              <a:rPr sz="1200" b="1" i="0">
                <a:solidFill>
                  <a:srgbClr val="B5483A"/>
                </a:solidFill>
                <a:latin typeface="Calibri"/>
              </a:rPr>
              <a:t>Expiry</a:t>
            </a:r>
          </a:p>
        </p:txBody>
      </p:sp>
      <p:sp>
        <p:nvSpPr>
          <p:cNvPr id="14" name="TextBox 13"/>
          <p:cNvSpPr txBox="1"/>
          <p:nvPr/>
        </p:nvSpPr>
        <p:spPr>
          <a:xfrm>
            <a:off x="4709160" y="3337560"/>
            <a:ext cx="3566160" cy="320040"/>
          </a:xfrm>
          <a:prstGeom prst="rect">
            <a:avLst/>
          </a:prstGeom>
          <a:noFill/>
        </p:spPr>
        <p:txBody>
          <a:bodyPr wrap="square" lIns="0" rIns="0" tIns="0" bIns="0" anchor="t">
            <a:spAutoFit/>
          </a:bodyPr>
          <a:lstStyle/>
          <a:p>
            <a:pPr algn="ctr"/>
            <a:r>
              <a:rPr sz="1200" b="0" i="0">
                <a:solidFill>
                  <a:srgbClr val="1B2336"/>
                </a:solidFill>
                <a:latin typeface="Calibri"/>
              </a:rPr>
              <a:t>4 weeks apart</a:t>
            </a:r>
          </a:p>
        </p:txBody>
      </p:sp>
      <p:sp>
        <p:nvSpPr>
          <p:cNvPr id="15" name="TextBox 14"/>
          <p:cNvSpPr txBox="1"/>
          <p:nvPr/>
        </p:nvSpPr>
        <p:spPr>
          <a:xfrm>
            <a:off x="4709160" y="3703320"/>
            <a:ext cx="4023360" cy="548640"/>
          </a:xfrm>
          <a:prstGeom prst="rect">
            <a:avLst/>
          </a:prstGeom>
          <a:noFill/>
        </p:spPr>
        <p:txBody>
          <a:bodyPr wrap="square" lIns="0" rIns="0" tIns="0" bIns="0" anchor="t">
            <a:spAutoFit/>
          </a:bodyPr>
          <a:lstStyle/>
          <a:p>
            <a:pPr algn="l"/>
            <a:r>
              <a:rPr sz="1200" b="0" i="0">
                <a:solidFill>
                  <a:srgbClr val="7A869E"/>
                </a:solidFill>
                <a:latin typeface="Calibri"/>
              </a:rPr>
              <a:t>Each window: Friday 10:00 snapshot to Friday 10:00 snapshot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8046720" cy="731520"/>
          </a:xfrm>
          <a:prstGeom prst="rect">
            <a:avLst/>
          </a:prstGeom>
          <a:noFill/>
        </p:spPr>
        <p:txBody>
          <a:bodyPr wrap="square" lIns="0" rIns="0" tIns="0" bIns="0" anchor="ctr">
            <a:spAutoFit/>
          </a:bodyPr>
          <a:lstStyle/>
          <a:p>
            <a:pPr algn="l"/>
            <a:r>
              <a:rPr sz="3200" b="1" i="0">
                <a:solidFill>
                  <a:srgbClr val="0F2A6B"/>
                </a:solidFill>
                <a:latin typeface="Cambria"/>
              </a:rPr>
              <a:t>What we built</a:t>
            </a:r>
          </a:p>
        </p:txBody>
      </p:sp>
      <p:sp>
        <p:nvSpPr>
          <p:cNvPr id="3" name="Step Data"/>
          <p:cNvSpPr/>
          <p:nvPr/>
        </p:nvSpPr>
        <p:spPr>
          <a:xfrm>
            <a:off x="548640" y="1417320"/>
            <a:ext cx="1463040" cy="1600200"/>
          </a:xfrm>
          <a:prstGeom prst="roundRect">
            <a:avLst>
              <a:gd name="adj" fmla="val 7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27048"/>
            <a:ext cx="1280160" cy="365760"/>
          </a:xfrm>
          <a:prstGeom prst="rect">
            <a:avLst/>
          </a:prstGeom>
          <a:noFill/>
        </p:spPr>
        <p:txBody>
          <a:bodyPr wrap="square" lIns="0" rIns="0" tIns="0" bIns="0" anchor="t">
            <a:spAutoFit/>
          </a:bodyPr>
          <a:lstStyle/>
          <a:p>
            <a:pPr algn="l"/>
            <a:r>
              <a:rPr sz="1600" b="1" i="0">
                <a:solidFill>
                  <a:srgbClr val="0F2A6B"/>
                </a:solidFill>
                <a:latin typeface="Cambria"/>
              </a:rPr>
              <a:t>Data</a:t>
            </a:r>
          </a:p>
        </p:txBody>
      </p:sp>
      <p:sp>
        <p:nvSpPr>
          <p:cNvPr id="5" name="TextBox 4"/>
          <p:cNvSpPr txBox="1"/>
          <p:nvPr/>
        </p:nvSpPr>
        <p:spPr>
          <a:xfrm>
            <a:off x="640080" y="1920240"/>
            <a:ext cx="1280160" cy="640080"/>
          </a:xfrm>
          <a:prstGeom prst="rect">
            <a:avLst/>
          </a:prstGeom>
          <a:noFill/>
        </p:spPr>
        <p:txBody>
          <a:bodyPr wrap="square" lIns="0" rIns="0" tIns="0" bIns="0" anchor="t">
            <a:spAutoFit/>
          </a:bodyPr>
          <a:lstStyle/>
          <a:p>
            <a:pPr algn="l"/>
            <a:r>
              <a:rPr sz="1200" b="0" i="0">
                <a:solidFill>
                  <a:srgbClr val="1B2336"/>
                </a:solidFill>
                <a:latin typeface="Calibri"/>
              </a:rPr>
              <a:t>Databento download with a local cache</a:t>
            </a:r>
          </a:p>
        </p:txBody>
      </p:sp>
      <p:sp>
        <p:nvSpPr>
          <p:cNvPr id="6" name="Status Data"/>
          <p:cNvSpPr/>
          <p:nvPr/>
        </p:nvSpPr>
        <p:spPr>
          <a:xfrm>
            <a:off x="640080" y="2606039"/>
            <a:ext cx="868680" cy="274320"/>
          </a:xfrm>
          <a:prstGeom prst="roundRect">
            <a:avLst>
              <a:gd name="adj" fmla="val 50000"/>
            </a:avLst>
          </a:prstGeom>
          <a:solidFill>
            <a:srgbClr val="2E8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06039"/>
            <a:ext cx="868680" cy="274320"/>
          </a:xfrm>
          <a:prstGeom prst="rect">
            <a:avLst/>
          </a:prstGeom>
          <a:noFill/>
        </p:spPr>
        <p:txBody>
          <a:bodyPr wrap="square" lIns="0" rIns="0" tIns="0" bIns="0" anchor="ctr">
            <a:spAutoFit/>
          </a:bodyPr>
          <a:lstStyle/>
          <a:p>
            <a:pPr algn="ctr"/>
            <a:r>
              <a:rPr sz="1100" b="1" i="0">
                <a:solidFill>
                  <a:srgbClr val="FFFFFF"/>
                </a:solidFill>
                <a:latin typeface="Calibri"/>
              </a:rPr>
              <a:t>merged</a:t>
            </a:r>
          </a:p>
        </p:txBody>
      </p:sp>
      <p:sp>
        <p:nvSpPr>
          <p:cNvPr id="8" name="TextBox 7"/>
          <p:cNvSpPr txBox="1"/>
          <p:nvPr/>
        </p:nvSpPr>
        <p:spPr>
          <a:xfrm>
            <a:off x="1938528" y="1920240"/>
            <a:ext cx="329184" cy="457200"/>
          </a:xfrm>
          <a:prstGeom prst="rect">
            <a:avLst/>
          </a:prstGeom>
          <a:noFill/>
        </p:spPr>
        <p:txBody>
          <a:bodyPr wrap="square" lIns="0" rIns="0" tIns="0" bIns="0" anchor="t">
            <a:spAutoFit/>
          </a:bodyPr>
          <a:lstStyle/>
          <a:p>
            <a:pPr algn="ctr"/>
            <a:r>
              <a:rPr sz="1600" b="0" i="0">
                <a:solidFill>
                  <a:srgbClr val="7A869E"/>
                </a:solidFill>
                <a:latin typeface="Calibri"/>
              </a:rPr>
              <a:t>→</a:t>
            </a:r>
          </a:p>
        </p:txBody>
      </p:sp>
      <p:sp>
        <p:nvSpPr>
          <p:cNvPr id="9" name="Step Roll calendar"/>
          <p:cNvSpPr/>
          <p:nvPr/>
        </p:nvSpPr>
        <p:spPr>
          <a:xfrm>
            <a:off x="2194560" y="1417320"/>
            <a:ext cx="1463040" cy="1600200"/>
          </a:xfrm>
          <a:prstGeom prst="roundRect">
            <a:avLst>
              <a:gd name="adj" fmla="val 7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527048"/>
            <a:ext cx="1280160" cy="365760"/>
          </a:xfrm>
          <a:prstGeom prst="rect">
            <a:avLst/>
          </a:prstGeom>
          <a:noFill/>
        </p:spPr>
        <p:txBody>
          <a:bodyPr wrap="square" lIns="0" rIns="0" tIns="0" bIns="0" anchor="t">
            <a:spAutoFit/>
          </a:bodyPr>
          <a:lstStyle/>
          <a:p>
            <a:pPr algn="l"/>
            <a:r>
              <a:rPr sz="1600" b="1" i="0">
                <a:solidFill>
                  <a:srgbClr val="0F2A6B"/>
                </a:solidFill>
                <a:latin typeface="Cambria"/>
              </a:rPr>
              <a:t>Roll calendar</a:t>
            </a:r>
          </a:p>
        </p:txBody>
      </p:sp>
      <p:sp>
        <p:nvSpPr>
          <p:cNvPr id="11" name="TextBox 10"/>
          <p:cNvSpPr txBox="1"/>
          <p:nvPr/>
        </p:nvSpPr>
        <p:spPr>
          <a:xfrm>
            <a:off x="2286000" y="1920240"/>
            <a:ext cx="1280160" cy="640080"/>
          </a:xfrm>
          <a:prstGeom prst="rect">
            <a:avLst/>
          </a:prstGeom>
          <a:noFill/>
        </p:spPr>
        <p:txBody>
          <a:bodyPr wrap="square" lIns="0" rIns="0" tIns="0" bIns="0" anchor="t">
            <a:spAutoFit/>
          </a:bodyPr>
          <a:lstStyle/>
          <a:p>
            <a:pPr algn="l"/>
            <a:r>
              <a:rPr sz="1200" b="0" i="0">
                <a:solidFill>
                  <a:srgbClr val="1B2336"/>
                </a:solidFill>
                <a:latin typeface="Calibri"/>
              </a:rPr>
              <a:t>Expiries, with CME holidays</a:t>
            </a:r>
          </a:p>
        </p:txBody>
      </p:sp>
      <p:sp>
        <p:nvSpPr>
          <p:cNvPr id="12" name="Status Roll calendar"/>
          <p:cNvSpPr/>
          <p:nvPr/>
        </p:nvSpPr>
        <p:spPr>
          <a:xfrm>
            <a:off x="2286000" y="2606039"/>
            <a:ext cx="868680" cy="274320"/>
          </a:xfrm>
          <a:prstGeom prst="roundRect">
            <a:avLst>
              <a:gd name="adj" fmla="val 50000"/>
            </a:avLst>
          </a:prstGeom>
          <a:solidFill>
            <a:srgbClr val="E3A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2606039"/>
            <a:ext cx="868680" cy="274320"/>
          </a:xfrm>
          <a:prstGeom prst="rect">
            <a:avLst/>
          </a:prstGeom>
          <a:noFill/>
        </p:spPr>
        <p:txBody>
          <a:bodyPr wrap="square" lIns="0" rIns="0" tIns="0" bIns="0" anchor="ctr">
            <a:spAutoFit/>
          </a:bodyPr>
          <a:lstStyle/>
          <a:p>
            <a:pPr algn="ctr"/>
            <a:r>
              <a:rPr sz="1100" b="1" i="0">
                <a:solidFill>
                  <a:srgbClr val="1B2336"/>
                </a:solidFill>
                <a:latin typeface="Calibri"/>
              </a:rPr>
              <a:t>in review</a:t>
            </a:r>
          </a:p>
        </p:txBody>
      </p:sp>
      <p:sp>
        <p:nvSpPr>
          <p:cNvPr id="14" name="TextBox 13"/>
          <p:cNvSpPr txBox="1"/>
          <p:nvPr/>
        </p:nvSpPr>
        <p:spPr>
          <a:xfrm>
            <a:off x="3584448" y="1920240"/>
            <a:ext cx="329184" cy="457200"/>
          </a:xfrm>
          <a:prstGeom prst="rect">
            <a:avLst/>
          </a:prstGeom>
          <a:noFill/>
        </p:spPr>
        <p:txBody>
          <a:bodyPr wrap="square" lIns="0" rIns="0" tIns="0" bIns="0" anchor="t">
            <a:spAutoFit/>
          </a:bodyPr>
          <a:lstStyle/>
          <a:p>
            <a:pPr algn="ctr"/>
            <a:r>
              <a:rPr sz="1600" b="0" i="0">
                <a:solidFill>
                  <a:srgbClr val="7A869E"/>
                </a:solidFill>
                <a:latin typeface="Calibri"/>
              </a:rPr>
              <a:t>→</a:t>
            </a:r>
          </a:p>
        </p:txBody>
      </p:sp>
      <p:sp>
        <p:nvSpPr>
          <p:cNvPr id="15" name="Step Windows"/>
          <p:cNvSpPr/>
          <p:nvPr/>
        </p:nvSpPr>
        <p:spPr>
          <a:xfrm>
            <a:off x="3840480" y="1417320"/>
            <a:ext cx="1463040" cy="1600200"/>
          </a:xfrm>
          <a:prstGeom prst="roundRect">
            <a:avLst>
              <a:gd name="adj" fmla="val 7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1527048"/>
            <a:ext cx="1280160" cy="365760"/>
          </a:xfrm>
          <a:prstGeom prst="rect">
            <a:avLst/>
          </a:prstGeom>
          <a:noFill/>
        </p:spPr>
        <p:txBody>
          <a:bodyPr wrap="square" lIns="0" rIns="0" tIns="0" bIns="0" anchor="t">
            <a:spAutoFit/>
          </a:bodyPr>
          <a:lstStyle/>
          <a:p>
            <a:pPr algn="l"/>
            <a:r>
              <a:rPr sz="1600" b="1" i="0">
                <a:solidFill>
                  <a:srgbClr val="0F2A6B"/>
                </a:solidFill>
                <a:latin typeface="Cambria"/>
              </a:rPr>
              <a:t>Windows</a:t>
            </a:r>
          </a:p>
        </p:txBody>
      </p:sp>
      <p:sp>
        <p:nvSpPr>
          <p:cNvPr id="17" name="TextBox 16"/>
          <p:cNvSpPr txBox="1"/>
          <p:nvPr/>
        </p:nvSpPr>
        <p:spPr>
          <a:xfrm>
            <a:off x="3931920" y="1920240"/>
            <a:ext cx="1280160" cy="640080"/>
          </a:xfrm>
          <a:prstGeom prst="rect">
            <a:avLst/>
          </a:prstGeom>
          <a:noFill/>
        </p:spPr>
        <p:txBody>
          <a:bodyPr wrap="square" lIns="0" rIns="0" tIns="0" bIns="0" anchor="t">
            <a:spAutoFit/>
          </a:bodyPr>
          <a:lstStyle/>
          <a:p>
            <a:pPr algn="l"/>
            <a:r>
              <a:rPr sz="1200" b="0" i="0">
                <a:solidFill>
                  <a:srgbClr val="1B2336"/>
                </a:solidFill>
                <a:latin typeface="Calibri"/>
              </a:rPr>
              <a:t>Roll and control weeks</a:t>
            </a:r>
          </a:p>
        </p:txBody>
      </p:sp>
      <p:sp>
        <p:nvSpPr>
          <p:cNvPr id="18" name="Status Windows"/>
          <p:cNvSpPr/>
          <p:nvPr/>
        </p:nvSpPr>
        <p:spPr>
          <a:xfrm>
            <a:off x="3931920" y="2606039"/>
            <a:ext cx="868680" cy="274320"/>
          </a:xfrm>
          <a:prstGeom prst="roundRect">
            <a:avLst>
              <a:gd name="adj" fmla="val 50000"/>
            </a:avLst>
          </a:prstGeom>
          <a:solidFill>
            <a:srgbClr val="2E8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2606039"/>
            <a:ext cx="868680" cy="274320"/>
          </a:xfrm>
          <a:prstGeom prst="rect">
            <a:avLst/>
          </a:prstGeom>
          <a:noFill/>
        </p:spPr>
        <p:txBody>
          <a:bodyPr wrap="square" lIns="0" rIns="0" tIns="0" bIns="0" anchor="ctr">
            <a:spAutoFit/>
          </a:bodyPr>
          <a:lstStyle/>
          <a:p>
            <a:pPr algn="ctr"/>
            <a:r>
              <a:rPr sz="1100" b="1" i="0">
                <a:solidFill>
                  <a:srgbClr val="FFFFFF"/>
                </a:solidFill>
                <a:latin typeface="Calibri"/>
              </a:rPr>
              <a:t>merged</a:t>
            </a:r>
          </a:p>
        </p:txBody>
      </p:sp>
      <p:sp>
        <p:nvSpPr>
          <p:cNvPr id="20" name="TextBox 19"/>
          <p:cNvSpPr txBox="1"/>
          <p:nvPr/>
        </p:nvSpPr>
        <p:spPr>
          <a:xfrm>
            <a:off x="5230368" y="1920240"/>
            <a:ext cx="329184" cy="457200"/>
          </a:xfrm>
          <a:prstGeom prst="rect">
            <a:avLst/>
          </a:prstGeom>
          <a:noFill/>
        </p:spPr>
        <p:txBody>
          <a:bodyPr wrap="square" lIns="0" rIns="0" tIns="0" bIns="0" anchor="t">
            <a:spAutoFit/>
          </a:bodyPr>
          <a:lstStyle/>
          <a:p>
            <a:pPr algn="ctr"/>
            <a:r>
              <a:rPr sz="1600" b="0" i="0">
                <a:solidFill>
                  <a:srgbClr val="7A869E"/>
                </a:solidFill>
                <a:latin typeface="Calibri"/>
              </a:rPr>
              <a:t>→</a:t>
            </a:r>
          </a:p>
        </p:txBody>
      </p:sp>
      <p:sp>
        <p:nvSpPr>
          <p:cNvPr id="21" name="Step Spread"/>
          <p:cNvSpPr/>
          <p:nvPr/>
        </p:nvSpPr>
        <p:spPr>
          <a:xfrm>
            <a:off x="5486400" y="1417320"/>
            <a:ext cx="1463040" cy="1600200"/>
          </a:xfrm>
          <a:prstGeom prst="roundRect">
            <a:avLst>
              <a:gd name="adj" fmla="val 7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1527048"/>
            <a:ext cx="1280160" cy="365760"/>
          </a:xfrm>
          <a:prstGeom prst="rect">
            <a:avLst/>
          </a:prstGeom>
          <a:noFill/>
        </p:spPr>
        <p:txBody>
          <a:bodyPr wrap="square" lIns="0" rIns="0" tIns="0" bIns="0" anchor="t">
            <a:spAutoFit/>
          </a:bodyPr>
          <a:lstStyle/>
          <a:p>
            <a:pPr algn="l"/>
            <a:r>
              <a:rPr sz="1600" b="1" i="0">
                <a:solidFill>
                  <a:srgbClr val="0F2A6B"/>
                </a:solidFill>
                <a:latin typeface="Cambria"/>
              </a:rPr>
              <a:t>Spread</a:t>
            </a:r>
          </a:p>
        </p:txBody>
      </p:sp>
      <p:sp>
        <p:nvSpPr>
          <p:cNvPr id="23" name="TextBox 22"/>
          <p:cNvSpPr txBox="1"/>
          <p:nvPr/>
        </p:nvSpPr>
        <p:spPr>
          <a:xfrm>
            <a:off x="5577840" y="1920240"/>
            <a:ext cx="1280160" cy="640080"/>
          </a:xfrm>
          <a:prstGeom prst="rect">
            <a:avLst/>
          </a:prstGeom>
          <a:noFill/>
        </p:spPr>
        <p:txBody>
          <a:bodyPr wrap="square" lIns="0" rIns="0" tIns="0" bIns="0" anchor="t">
            <a:spAutoFit/>
          </a:bodyPr>
          <a:lstStyle/>
          <a:p>
            <a:pPr algn="l"/>
            <a:r>
              <a:rPr sz="1200" b="0" i="0">
                <a:solidFill>
                  <a:srgbClr val="1B2336"/>
                </a:solidFill>
                <a:latin typeface="Calibri"/>
              </a:rPr>
              <a:t>10:00 snapshots and quote checks</a:t>
            </a:r>
          </a:p>
        </p:txBody>
      </p:sp>
      <p:sp>
        <p:nvSpPr>
          <p:cNvPr id="24" name="Status Spread"/>
          <p:cNvSpPr/>
          <p:nvPr/>
        </p:nvSpPr>
        <p:spPr>
          <a:xfrm>
            <a:off x="5577840" y="2606039"/>
            <a:ext cx="868680" cy="274320"/>
          </a:xfrm>
          <a:prstGeom prst="roundRect">
            <a:avLst>
              <a:gd name="adj" fmla="val 50000"/>
            </a:avLst>
          </a:prstGeom>
          <a:solidFill>
            <a:srgbClr val="2E8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2606039"/>
            <a:ext cx="868680" cy="274320"/>
          </a:xfrm>
          <a:prstGeom prst="rect">
            <a:avLst/>
          </a:prstGeom>
          <a:noFill/>
        </p:spPr>
        <p:txBody>
          <a:bodyPr wrap="square" lIns="0" rIns="0" tIns="0" bIns="0" anchor="ctr">
            <a:spAutoFit/>
          </a:bodyPr>
          <a:lstStyle/>
          <a:p>
            <a:pPr algn="ctr"/>
            <a:r>
              <a:rPr sz="1100" b="1" i="0">
                <a:solidFill>
                  <a:srgbClr val="FFFFFF"/>
                </a:solidFill>
                <a:latin typeface="Calibri"/>
              </a:rPr>
              <a:t>merged</a:t>
            </a:r>
          </a:p>
        </p:txBody>
      </p:sp>
      <p:sp>
        <p:nvSpPr>
          <p:cNvPr id="26" name="TextBox 25"/>
          <p:cNvSpPr txBox="1"/>
          <p:nvPr/>
        </p:nvSpPr>
        <p:spPr>
          <a:xfrm>
            <a:off x="6876288" y="1920240"/>
            <a:ext cx="329184" cy="457200"/>
          </a:xfrm>
          <a:prstGeom prst="rect">
            <a:avLst/>
          </a:prstGeom>
          <a:noFill/>
        </p:spPr>
        <p:txBody>
          <a:bodyPr wrap="square" lIns="0" rIns="0" tIns="0" bIns="0" anchor="t">
            <a:spAutoFit/>
          </a:bodyPr>
          <a:lstStyle/>
          <a:p>
            <a:pPr algn="ctr"/>
            <a:r>
              <a:rPr sz="1600" b="0" i="0">
                <a:solidFill>
                  <a:srgbClr val="7A869E"/>
                </a:solidFill>
                <a:latin typeface="Calibri"/>
              </a:rPr>
              <a:t>→</a:t>
            </a:r>
          </a:p>
        </p:txBody>
      </p:sp>
      <p:sp>
        <p:nvSpPr>
          <p:cNvPr id="27" name="Step Statistics"/>
          <p:cNvSpPr/>
          <p:nvPr/>
        </p:nvSpPr>
        <p:spPr>
          <a:xfrm>
            <a:off x="7132320" y="1417320"/>
            <a:ext cx="1463040" cy="1600200"/>
          </a:xfrm>
          <a:prstGeom prst="roundRect">
            <a:avLst>
              <a:gd name="adj" fmla="val 7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59" y="1527048"/>
            <a:ext cx="1280160" cy="365760"/>
          </a:xfrm>
          <a:prstGeom prst="rect">
            <a:avLst/>
          </a:prstGeom>
          <a:noFill/>
        </p:spPr>
        <p:txBody>
          <a:bodyPr wrap="square" lIns="0" rIns="0" tIns="0" bIns="0" anchor="t">
            <a:spAutoFit/>
          </a:bodyPr>
          <a:lstStyle/>
          <a:p>
            <a:pPr algn="l"/>
            <a:r>
              <a:rPr sz="1600" b="1" i="0">
                <a:solidFill>
                  <a:srgbClr val="0F2A6B"/>
                </a:solidFill>
                <a:latin typeface="Cambria"/>
              </a:rPr>
              <a:t>Statistics</a:t>
            </a:r>
          </a:p>
        </p:txBody>
      </p:sp>
      <p:sp>
        <p:nvSpPr>
          <p:cNvPr id="29" name="TextBox 28"/>
          <p:cNvSpPr txBox="1"/>
          <p:nvPr/>
        </p:nvSpPr>
        <p:spPr>
          <a:xfrm>
            <a:off x="7223759" y="1920240"/>
            <a:ext cx="1280160" cy="640080"/>
          </a:xfrm>
          <a:prstGeom prst="rect">
            <a:avLst/>
          </a:prstGeom>
          <a:noFill/>
        </p:spPr>
        <p:txBody>
          <a:bodyPr wrap="square" lIns="0" rIns="0" tIns="0" bIns="0" anchor="t">
            <a:spAutoFit/>
          </a:bodyPr>
          <a:lstStyle/>
          <a:p>
            <a:pPr algn="l"/>
            <a:r>
              <a:rPr sz="1200" b="0" i="0">
                <a:solidFill>
                  <a:srgbClr val="1B2336"/>
                </a:solidFill>
                <a:latin typeface="Calibri"/>
              </a:rPr>
              <a:t>Sign, Wilcoxon, bootstrap</a:t>
            </a:r>
          </a:p>
        </p:txBody>
      </p:sp>
      <p:sp>
        <p:nvSpPr>
          <p:cNvPr id="30" name="Status Statistics"/>
          <p:cNvSpPr/>
          <p:nvPr/>
        </p:nvSpPr>
        <p:spPr>
          <a:xfrm>
            <a:off x="7223759" y="2606039"/>
            <a:ext cx="868680" cy="274320"/>
          </a:xfrm>
          <a:prstGeom prst="roundRect">
            <a:avLst>
              <a:gd name="adj" fmla="val 50000"/>
            </a:avLst>
          </a:prstGeom>
          <a:solidFill>
            <a:srgbClr val="E3A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59" y="2606039"/>
            <a:ext cx="868680" cy="274320"/>
          </a:xfrm>
          <a:prstGeom prst="rect">
            <a:avLst/>
          </a:prstGeom>
          <a:noFill/>
        </p:spPr>
        <p:txBody>
          <a:bodyPr wrap="square" lIns="0" rIns="0" tIns="0" bIns="0" anchor="ctr">
            <a:spAutoFit/>
          </a:bodyPr>
          <a:lstStyle/>
          <a:p>
            <a:pPr algn="ctr"/>
            <a:r>
              <a:rPr sz="1100" b="1" i="0">
                <a:solidFill>
                  <a:srgbClr val="1B2336"/>
                </a:solidFill>
                <a:latin typeface="Calibri"/>
              </a:rPr>
              <a:t>in review</a:t>
            </a:r>
          </a:p>
        </p:txBody>
      </p:sp>
      <p:sp>
        <p:nvSpPr>
          <p:cNvPr id="32" name="TextBox 31"/>
          <p:cNvSpPr txBox="1"/>
          <p:nvPr/>
        </p:nvSpPr>
        <p:spPr>
          <a:xfrm>
            <a:off x="548640" y="3383280"/>
            <a:ext cx="2560320" cy="640080"/>
          </a:xfrm>
          <a:prstGeom prst="rect">
            <a:avLst/>
          </a:prstGeom>
          <a:noFill/>
        </p:spPr>
        <p:txBody>
          <a:bodyPr wrap="square" lIns="0" rIns="0" tIns="0" bIns="0" anchor="t">
            <a:spAutoFit/>
          </a:bodyPr>
          <a:lstStyle/>
          <a:p>
            <a:pPr algn="l"/>
            <a:r>
              <a:rPr sz="3600" b="1" i="0">
                <a:solidFill>
                  <a:srgbClr val="3B5BA9"/>
                </a:solidFill>
                <a:latin typeface="Cambria"/>
              </a:rPr>
              <a:t>64 of 65</a:t>
            </a:r>
          </a:p>
        </p:txBody>
      </p:sp>
      <p:sp>
        <p:nvSpPr>
          <p:cNvPr id="33" name="TextBox 32"/>
          <p:cNvSpPr txBox="1"/>
          <p:nvPr/>
        </p:nvSpPr>
        <p:spPr>
          <a:xfrm>
            <a:off x="548640" y="4023360"/>
            <a:ext cx="2468880" cy="548640"/>
          </a:xfrm>
          <a:prstGeom prst="rect">
            <a:avLst/>
          </a:prstGeom>
          <a:noFill/>
        </p:spPr>
        <p:txBody>
          <a:bodyPr wrap="square" lIns="0" rIns="0" tIns="0" bIns="0" anchor="t">
            <a:spAutoFit/>
          </a:bodyPr>
          <a:lstStyle/>
          <a:p>
            <a:pPr algn="l"/>
            <a:r>
              <a:rPr sz="1200" b="0" i="0">
                <a:solidFill>
                  <a:srgbClr val="1B2336"/>
                </a:solidFill>
                <a:latin typeface="Calibri"/>
              </a:rPr>
              <a:t>front-contract expiries match Databento, 2010 to 2026</a:t>
            </a:r>
          </a:p>
        </p:txBody>
      </p:sp>
      <p:sp>
        <p:nvSpPr>
          <p:cNvPr id="34" name="TextBox 33"/>
          <p:cNvSpPr txBox="1"/>
          <p:nvPr/>
        </p:nvSpPr>
        <p:spPr>
          <a:xfrm>
            <a:off x="3291840" y="3383280"/>
            <a:ext cx="2560320" cy="640080"/>
          </a:xfrm>
          <a:prstGeom prst="rect">
            <a:avLst/>
          </a:prstGeom>
          <a:noFill/>
        </p:spPr>
        <p:txBody>
          <a:bodyPr wrap="square" lIns="0" rIns="0" tIns="0" bIns="0" anchor="t">
            <a:spAutoFit/>
          </a:bodyPr>
          <a:lstStyle/>
          <a:p>
            <a:pPr algn="l"/>
            <a:r>
              <a:rPr sz="3600" b="1" i="0">
                <a:solidFill>
                  <a:srgbClr val="3B5BA9"/>
                </a:solidFill>
                <a:latin typeface="Cambria"/>
              </a:rPr>
              <a:t>57 + 8</a:t>
            </a:r>
          </a:p>
        </p:txBody>
      </p:sp>
      <p:sp>
        <p:nvSpPr>
          <p:cNvPr id="35" name="TextBox 34"/>
          <p:cNvSpPr txBox="1"/>
          <p:nvPr/>
        </p:nvSpPr>
        <p:spPr>
          <a:xfrm>
            <a:off x="3291840" y="4023360"/>
            <a:ext cx="2468880" cy="548640"/>
          </a:xfrm>
          <a:prstGeom prst="rect">
            <a:avLst/>
          </a:prstGeom>
          <a:noFill/>
        </p:spPr>
        <p:txBody>
          <a:bodyPr wrap="square" lIns="0" rIns="0" tIns="0" bIns="0" anchor="t">
            <a:spAutoFit/>
          </a:bodyPr>
          <a:lstStyle/>
          <a:p>
            <a:pPr algn="l"/>
            <a:r>
              <a:rPr sz="1200" b="0" i="0">
                <a:solidFill>
                  <a:srgbClr val="1B2336"/>
                </a:solidFill>
                <a:latin typeface="Calibri"/>
              </a:rPr>
              <a:t>held-out rolls plus recent exploratory rolls</a:t>
            </a:r>
          </a:p>
        </p:txBody>
      </p:sp>
      <p:sp>
        <p:nvSpPr>
          <p:cNvPr id="36" name="TextBox 35"/>
          <p:cNvSpPr txBox="1"/>
          <p:nvPr/>
        </p:nvSpPr>
        <p:spPr>
          <a:xfrm>
            <a:off x="6035040" y="3383280"/>
            <a:ext cx="2560320" cy="640080"/>
          </a:xfrm>
          <a:prstGeom prst="rect">
            <a:avLst/>
          </a:prstGeom>
          <a:noFill/>
        </p:spPr>
        <p:txBody>
          <a:bodyPr wrap="square" lIns="0" rIns="0" tIns="0" bIns="0" anchor="t">
            <a:spAutoFit/>
          </a:bodyPr>
          <a:lstStyle/>
          <a:p>
            <a:pPr algn="l"/>
            <a:r>
              <a:rPr sz="3600" b="1" i="0">
                <a:solidFill>
                  <a:srgbClr val="3B5BA9"/>
                </a:solidFill>
                <a:latin typeface="Cambria"/>
              </a:rPr>
              <a:t>90+</a:t>
            </a:r>
          </a:p>
        </p:txBody>
      </p:sp>
      <p:sp>
        <p:nvSpPr>
          <p:cNvPr id="37" name="TextBox 36"/>
          <p:cNvSpPr txBox="1"/>
          <p:nvPr/>
        </p:nvSpPr>
        <p:spPr>
          <a:xfrm>
            <a:off x="6035040" y="4023360"/>
            <a:ext cx="2468880" cy="548640"/>
          </a:xfrm>
          <a:prstGeom prst="rect">
            <a:avLst/>
          </a:prstGeom>
          <a:noFill/>
        </p:spPr>
        <p:txBody>
          <a:bodyPr wrap="square" lIns="0" rIns="0" tIns="0" bIns="0" anchor="t">
            <a:spAutoFit/>
          </a:bodyPr>
          <a:lstStyle/>
          <a:p>
            <a:pPr algn="l"/>
            <a:r>
              <a:rPr sz="1200" b="0" i="0">
                <a:solidFill>
                  <a:srgbClr val="1B2336"/>
                </a:solidFill>
                <a:latin typeface="Calibri"/>
              </a:rPr>
              <a:t>automated tests, run on Linux and Windows for every pull request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8046720" cy="731520"/>
          </a:xfrm>
          <a:prstGeom prst="rect">
            <a:avLst/>
          </a:prstGeom>
          <a:noFill/>
        </p:spPr>
        <p:txBody>
          <a:bodyPr wrap="square" lIns="0" rIns="0" tIns="0" bIns="0" anchor="ctr">
            <a:spAutoFit/>
          </a:bodyPr>
          <a:lstStyle/>
          <a:p>
            <a:pPr algn="l"/>
            <a:r>
              <a:rPr sz="3200" b="1" i="0">
                <a:solidFill>
                  <a:srgbClr val="0F2A6B"/>
                </a:solidFill>
                <a:latin typeface="Cambria"/>
              </a:rPr>
              <a:t>What the data show before any test</a:t>
            </a:r>
          </a:p>
        </p:txBody>
      </p:sp>
      <p:graphicFrame>
        <p:nvGraphicFramePr>
          <p:cNvPr id="3" name="Spread volume by week"/>
          <p:cNvGraphicFramePr>
            <a:graphicFrameLocks noGrp="1"/>
          </p:cNvGraphicFramePr>
          <p:nvPr/>
        </p:nvGraphicFramePr>
        <p:xfrm>
          <a:off x="457200" y="1234440"/>
          <a:ext cx="4572000" cy="3246120"/>
        </p:xfrm>
        <a:graphic>
          <a:graphicData uri="http://schemas.openxmlformats.org/drawingml/2006/chart">
            <c:chart xmlns:c="http://schemas.openxmlformats.org/drawingml/2006/chart" r:id="rId2"/>
          </a:graphicData>
        </a:graphic>
      </p:graphicFrame>
      <p:sp>
        <p:nvSpPr>
          <p:cNvPr id="4" name="Findings"/>
          <p:cNvSpPr txBox="1"/>
          <p:nvPr/>
        </p:nvSpPr>
        <p:spPr>
          <a:xfrm>
            <a:off x="5303520" y="1325880"/>
            <a:ext cx="3383280" cy="3108960"/>
          </a:xfrm>
          <a:prstGeom prst="rect">
            <a:avLst/>
          </a:prstGeom>
          <a:noFill/>
        </p:spPr>
        <p:txBody>
          <a:bodyPr wrap="square" lIns="0" rIns="0" tIns="0" bIns="0" anchor="t">
            <a:spAutoFit/>
          </a:bodyPr>
          <a:lstStyle/>
          <a:p>
            <a:pPr algn="l" marL="201168" indent="-201168">
              <a:spcAft>
                <a:spcPts val="1000"/>
              </a:spcAft>
              <a:buChar char="•"/>
            </a:pPr>
            <a:r>
              <a:rPr sz="1400" b="1" i="0">
                <a:solidFill>
                  <a:srgbClr val="0F2A6B"/>
                </a:solidFill>
                <a:latin typeface="Calibri"/>
              </a:rPr>
              <a:t>Rolling is concentrated.</a:t>
            </a:r>
            <a:r>
              <a:rPr sz="1400" b="0" i="0">
                <a:solidFill>
                  <a:srgbClr val="1B2336"/>
                </a:solidFill>
                <a:latin typeface="Calibri"/>
              </a:rPr>
              <a:t> 80 to 87% of listed-spread volume trades in the roll week, 0 to 1% in the control week.</a:t>
            </a:r>
          </a:p>
          <a:p>
            <a:pPr algn="l" marL="201168" indent="-201168">
              <a:spcAft>
                <a:spcPts val="1000"/>
              </a:spcAft>
              <a:buChar char="•"/>
            </a:pPr>
            <a:r>
              <a:rPr sz="1400" b="1" i="0">
                <a:solidFill>
                  <a:srgbClr val="0F2A6B"/>
                </a:solidFill>
                <a:latin typeface="Calibri"/>
              </a:rPr>
              <a:t>Outright volume lags.</a:t>
            </a:r>
            <a:r>
              <a:rPr sz="1400" b="0" i="0">
                <a:solidFill>
                  <a:srgbClr val="1B2336"/>
                </a:solidFill>
                <a:latin typeface="Calibri"/>
              </a:rPr>
              <a:t> The deferred contract passes half of outright volume 3 days before expiry in 63 of 65 rolls, about two days after spread trading peaks.</a:t>
            </a:r>
          </a:p>
          <a:p>
            <a:pPr algn="l" marL="201168" indent="-201168">
              <a:spcAft>
                <a:spcPts val="1000"/>
              </a:spcAft>
              <a:buChar char="•"/>
            </a:pPr>
            <a:r>
              <a:rPr sz="1400" b="1" i="0">
                <a:solidFill>
                  <a:srgbClr val="0F2A6B"/>
                </a:solidFill>
                <a:latin typeface="Calibri"/>
              </a:rPr>
              <a:t>The control is thin.</a:t>
            </a:r>
            <a:r>
              <a:rPr sz="1400" b="0" i="0">
                <a:solidFill>
                  <a:srgbClr val="1B2336"/>
                </a:solidFill>
                <a:latin typeface="Calibri"/>
              </a:rPr>
              <a:t> Control-week deferred quotes are about twice as wide, so control moves are noisier.</a:t>
            </a:r>
          </a:p>
        </p:txBody>
      </p:sp>
      <p:sp>
        <p:nvSpPr>
          <p:cNvPr id="5" name="TextBox 4"/>
          <p:cNvSpPr txBox="1"/>
          <p:nvPr/>
        </p:nvSpPr>
        <p:spPr>
          <a:xfrm>
            <a:off x="548640" y="4572000"/>
            <a:ext cx="7589520" cy="274320"/>
          </a:xfrm>
          <a:prstGeom prst="rect">
            <a:avLst/>
          </a:prstGeom>
          <a:noFill/>
        </p:spPr>
        <p:txBody>
          <a:bodyPr wrap="square" lIns="0" rIns="0" tIns="0" bIns="0" anchor="t">
            <a:spAutoFit/>
          </a:bodyPr>
          <a:lstStyle/>
          <a:p>
            <a:pPr algn="l"/>
            <a:r>
              <a:rPr sz="1100" b="0" i="1">
                <a:solidFill>
                  <a:srgbClr val="7A869E"/>
                </a:solidFill>
                <a:latin typeface="Calibri"/>
              </a:rPr>
              <a:t>Exploratory: the 8 recent rolls, volume and quote quality only. No spread changes were examined.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8046720" cy="731520"/>
          </a:xfrm>
          <a:prstGeom prst="rect">
            <a:avLst/>
          </a:prstGeom>
          <a:noFill/>
        </p:spPr>
        <p:txBody>
          <a:bodyPr wrap="square" lIns="0" rIns="0" tIns="0" bIns="0" anchor="ctr">
            <a:spAutoFit/>
          </a:bodyPr>
          <a:lstStyle/>
          <a:p>
            <a:pPr algn="l"/>
            <a:r>
              <a:rPr sz="3200" b="1" i="0">
                <a:solidFill>
                  <a:srgbClr val="0F2A6B"/>
                </a:solidFill>
                <a:latin typeface="Cambria"/>
              </a:rPr>
              <a:t>What we will and won't claim</a:t>
            </a:r>
          </a:p>
        </p:txBody>
      </p:sp>
      <p:sp>
        <p:nvSpPr>
          <p:cNvPr id="3" name="Fixed card"/>
          <p:cNvSpPr/>
          <p:nvPr/>
        </p:nvSpPr>
        <p:spPr>
          <a:xfrm>
            <a:off x="548640" y="1325880"/>
            <a:ext cx="3840480" cy="3154680"/>
          </a:xfrm>
          <a:prstGeom prst="roundRect">
            <a:avLst>
              <a:gd name="adj" fmla="val 4000"/>
            </a:avLst>
          </a:prstGeom>
          <a:solidFill>
            <a:srgbClr val="EDF0F8"/>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63040"/>
            <a:ext cx="3383280" cy="411480"/>
          </a:xfrm>
          <a:prstGeom prst="rect">
            <a:avLst/>
          </a:prstGeom>
          <a:noFill/>
        </p:spPr>
        <p:txBody>
          <a:bodyPr wrap="square" lIns="0" rIns="0" tIns="0" bIns="0" anchor="t">
            <a:spAutoFit/>
          </a:bodyPr>
          <a:lstStyle/>
          <a:p>
            <a:pPr algn="l"/>
            <a:r>
              <a:rPr sz="2000" b="1" i="0">
                <a:solidFill>
                  <a:srgbClr val="0F2A6B"/>
                </a:solidFill>
                <a:latin typeface="Cambria"/>
              </a:rPr>
              <a:t>Fixed in advance</a:t>
            </a:r>
          </a:p>
        </p:txBody>
      </p:sp>
      <p:sp>
        <p:nvSpPr>
          <p:cNvPr id="5" name="TextBox 4"/>
          <p:cNvSpPr txBox="1"/>
          <p:nvPr/>
        </p:nvSpPr>
        <p:spPr>
          <a:xfrm>
            <a:off x="777240" y="1965960"/>
            <a:ext cx="3383280" cy="2377440"/>
          </a:xfrm>
          <a:prstGeom prst="rect">
            <a:avLst/>
          </a:prstGeom>
          <a:noFill/>
        </p:spPr>
        <p:txBody>
          <a:bodyPr wrap="square" lIns="0" rIns="0" tIns="0" bIns="0" anchor="t">
            <a:spAutoFit/>
          </a:bodyPr>
          <a:lstStyle/>
          <a:p>
            <a:pPr algn="l" marL="201168" indent="-201168">
              <a:spcAft>
                <a:spcPts val="800"/>
              </a:spcAft>
              <a:buChar char="•"/>
            </a:pPr>
            <a:r>
              <a:rPr sz="1400" b="0" i="0">
                <a:solidFill>
                  <a:srgbClr val="1B2336"/>
                </a:solidFill>
                <a:latin typeface="Calibri"/>
              </a:rPr>
              <a:t>Hypotheses, windows, snapshot time and quote-age limit</a:t>
            </a:r>
          </a:p>
          <a:p>
            <a:pPr algn="l" marL="201168" indent="-201168">
              <a:spcAft>
                <a:spcPts val="800"/>
              </a:spcAft>
              <a:buChar char="•"/>
            </a:pPr>
            <a:r>
              <a:rPr sz="1400" b="0" i="0">
                <a:solidFill>
                  <a:srgbClr val="1B2336"/>
                </a:solidFill>
                <a:latin typeface="Calibri"/>
              </a:rPr>
              <a:t>Sign test, Wilcoxon test and two bootstrap intervals</a:t>
            </a:r>
          </a:p>
          <a:p>
            <a:pPr algn="l" marL="201168" indent="-201168">
              <a:spcAft>
                <a:spcPts val="800"/>
              </a:spcAft>
              <a:buChar char="•"/>
            </a:pPr>
            <a:r>
              <a:rPr sz="1400" b="0" i="0">
                <a:solidFill>
                  <a:srgbClr val="1B2336"/>
                </a:solidFill>
                <a:latin typeface="Calibri"/>
              </a:rPr>
              <a:t>Observed USD and EUR rates for a carry comparison</a:t>
            </a:r>
          </a:p>
          <a:p>
            <a:pPr algn="l" marL="201168" indent="-201168">
              <a:spcAft>
                <a:spcPts val="800"/>
              </a:spcAft>
              <a:buChar char="•"/>
            </a:pPr>
            <a:r>
              <a:rPr sz="1400" b="0" i="0">
                <a:solidFill>
                  <a:srgbClr val="1B2336"/>
                </a:solidFill>
                <a:latin typeface="Calibri"/>
              </a:rPr>
              <a:t>Plan signed off by all four before the test runs</a:t>
            </a:r>
          </a:p>
        </p:txBody>
      </p:sp>
      <p:sp>
        <p:nvSpPr>
          <p:cNvPr id="6" name="Limits card"/>
          <p:cNvSpPr/>
          <p:nvPr/>
        </p:nvSpPr>
        <p:spPr>
          <a:xfrm>
            <a:off x="4754880" y="1325880"/>
            <a:ext cx="3840480" cy="3154680"/>
          </a:xfrm>
          <a:prstGeom prst="roundRect">
            <a:avLst>
              <a:gd name="adj" fmla="val 4000"/>
            </a:avLst>
          </a:prstGeom>
          <a:solidFill>
            <a:srgbClr val="FFFFFF"/>
          </a:solidFill>
          <a:ln w="9525">
            <a:solidFill>
              <a:srgbClr val="9AA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83480" y="1463040"/>
            <a:ext cx="3383280" cy="411480"/>
          </a:xfrm>
          <a:prstGeom prst="rect">
            <a:avLst/>
          </a:prstGeom>
          <a:noFill/>
        </p:spPr>
        <p:txBody>
          <a:bodyPr wrap="square" lIns="0" rIns="0" tIns="0" bIns="0" anchor="t">
            <a:spAutoFit/>
          </a:bodyPr>
          <a:lstStyle/>
          <a:p>
            <a:pPr algn="l"/>
            <a:r>
              <a:rPr sz="2000" b="1" i="0">
                <a:solidFill>
                  <a:srgbClr val="0F2A6B"/>
                </a:solidFill>
                <a:latin typeface="Cambria"/>
              </a:rPr>
              <a:t>Limits and next steps</a:t>
            </a:r>
          </a:p>
        </p:txBody>
      </p:sp>
      <p:sp>
        <p:nvSpPr>
          <p:cNvPr id="8" name="TextBox 7"/>
          <p:cNvSpPr txBox="1"/>
          <p:nvPr/>
        </p:nvSpPr>
        <p:spPr>
          <a:xfrm>
            <a:off x="4983480" y="1965960"/>
            <a:ext cx="3383280" cy="2377440"/>
          </a:xfrm>
          <a:prstGeom prst="rect">
            <a:avLst/>
          </a:prstGeom>
          <a:noFill/>
        </p:spPr>
        <p:txBody>
          <a:bodyPr wrap="square" lIns="0" rIns="0" tIns="0" bIns="0" anchor="t">
            <a:spAutoFit/>
          </a:bodyPr>
          <a:lstStyle/>
          <a:p>
            <a:pPr algn="l" marL="201168" indent="-201168">
              <a:spcAft>
                <a:spcPts val="800"/>
              </a:spcAft>
              <a:buChar char="•"/>
            </a:pPr>
            <a:r>
              <a:rPr sz="1400" b="0" i="0">
                <a:solidFill>
                  <a:srgbClr val="1B2336"/>
                </a:solidFill>
                <a:latin typeface="Calibri"/>
              </a:rPr>
              <a:t>A null result is not proof of no effect: noisy control quotes bias the test toward none</a:t>
            </a:r>
          </a:p>
          <a:p>
            <a:pPr algn="l" marL="201168" indent="-201168">
              <a:spcAft>
                <a:spcPts val="800"/>
              </a:spcAft>
              <a:buChar char="•"/>
            </a:pPr>
            <a:r>
              <a:rPr sz="1400" b="0" i="0">
                <a:solidFill>
                  <a:srgbClr val="1B2336"/>
                </a:solidFill>
                <a:latin typeface="Calibri"/>
              </a:rPr>
              <a:t>Spread moves also reflect rates; we cannot show who pays</a:t>
            </a:r>
          </a:p>
          <a:p>
            <a:pPr algn="l" marL="201168" indent="-201168">
              <a:spcAft>
                <a:spcPts val="800"/>
              </a:spcAft>
              <a:buChar char="•"/>
            </a:pPr>
            <a:r>
              <a:rPr sz="1400" b="0" i="0">
                <a:solidFill>
                  <a:srgbClr val="1B2336"/>
                </a:solidFill>
                <a:latin typeface="Calibri"/>
              </a:rPr>
              <a:t>Next: per-roll table, main test on 57 rolls, robustness checks,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Euro FX futures roll pressure</dc:title>
  <dc:subject/>
  <dc:creator>FINM 37000 Project Group 1</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